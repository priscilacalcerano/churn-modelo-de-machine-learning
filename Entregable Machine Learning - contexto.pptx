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10287000" cx="18288000"/>
  <p:notesSz cx="6858000" cy="9144000"/>
  <p:embeddedFontLst>
    <p:embeddedFont>
      <p:font typeface="Manrope Light"/>
      <p:regular r:id="rId15"/>
      <p:bold r:id="rId16"/>
    </p:embeddedFont>
    <p:embeddedFont>
      <p:font typeface="Manrope"/>
      <p:regular r:id="rId17"/>
      <p:bold r:id="rId18"/>
    </p:embeddedFont>
    <p:embeddedFont>
      <p:font typeface="Manrope ExtraLight"/>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608">
          <p15:clr>
            <a:srgbClr val="9AA0A6"/>
          </p15:clr>
        </p15:guide>
        <p15:guide id="2" pos="4787">
          <p15:clr>
            <a:srgbClr val="9AA0A6"/>
          </p15:clr>
        </p15:guide>
      </p15:sldGuideLst>
    </p:ext>
    <p:ext uri="GoogleSlidesCustomDataVersion2">
      <go:slidesCustomData xmlns:go="http://customooxmlschemas.google.com/" r:id="rId21" roundtripDataSignature="AMtx7mg8qvsybF956Zj9k05bpflKfCVL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56CF99B-669E-4466-A7FA-FB5B28C4DB00}">
  <a:tblStyle styleId="{756CF99B-669E-4466-A7FA-FB5B28C4DB0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608" orient="horz"/>
        <p:guide pos="4787"/>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anropeExtraLight-bold.fntdata"/><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ManropeLight-regular.fntdata"/><Relationship Id="rId14" Type="http://schemas.openxmlformats.org/officeDocument/2006/relationships/slide" Target="slides/slide8.xml"/><Relationship Id="rId17" Type="http://schemas.openxmlformats.org/officeDocument/2006/relationships/font" Target="fonts/Manrope-regular.fntdata"/><Relationship Id="rId16" Type="http://schemas.openxmlformats.org/officeDocument/2006/relationships/font" Target="fonts/ManropeLight-bold.fntdata"/><Relationship Id="rId5" Type="http://schemas.openxmlformats.org/officeDocument/2006/relationships/slideMaster" Target="slideMasters/slideMaster1.xml"/><Relationship Id="rId19" Type="http://schemas.openxmlformats.org/officeDocument/2006/relationships/font" Target="fonts/ManropeExtraLight-regular.fntdata"/><Relationship Id="rId6" Type="http://schemas.openxmlformats.org/officeDocument/2006/relationships/notesMaster" Target="notesMasters/notesMaster1.xml"/><Relationship Id="rId18" Type="http://schemas.openxmlformats.org/officeDocument/2006/relationships/font" Target="fonts/Manrope-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3917eb5ed2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33917eb5ed2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3917eb5ed2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33917eb5ed2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3917eb5ed2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33917eb5ed2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3917eb5ed2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33917eb5ed2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3917eb5ed2_0_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3917eb5ed2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3"/>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Manrope"/>
              <a:buNone/>
              <a:defRPr b="0" i="0" sz="4400" u="none" cap="none" strike="noStrike">
                <a:solidFill>
                  <a:schemeClr val="dk1"/>
                </a:solidFill>
                <a:latin typeface="Manrope"/>
                <a:ea typeface="Manrope"/>
                <a:cs typeface="Manrope"/>
                <a:sym typeface="Manrop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Manrope"/>
              <a:buChar char="•"/>
              <a:defRPr b="0" i="0" sz="3200" u="none" cap="none" strike="noStrike">
                <a:solidFill>
                  <a:schemeClr val="dk1"/>
                </a:solidFill>
                <a:latin typeface="Manrope"/>
                <a:ea typeface="Manrope"/>
                <a:cs typeface="Manrope"/>
                <a:sym typeface="Manrope"/>
              </a:defRPr>
            </a:lvl1pPr>
            <a:lvl2pPr indent="-406400" lvl="1" marL="914400" marR="0" rtl="0" algn="l">
              <a:lnSpc>
                <a:spcPct val="100000"/>
              </a:lnSpc>
              <a:spcBef>
                <a:spcPts val="560"/>
              </a:spcBef>
              <a:spcAft>
                <a:spcPts val="0"/>
              </a:spcAft>
              <a:buClr>
                <a:schemeClr val="dk1"/>
              </a:buClr>
              <a:buSzPts val="2800"/>
              <a:buFont typeface="Manrope"/>
              <a:buChar char="–"/>
              <a:defRPr b="0" i="0" sz="2800" u="none" cap="none" strike="noStrike">
                <a:solidFill>
                  <a:schemeClr val="dk1"/>
                </a:solidFill>
                <a:latin typeface="Manrope"/>
                <a:ea typeface="Manrope"/>
                <a:cs typeface="Manrope"/>
                <a:sym typeface="Manrope"/>
              </a:defRPr>
            </a:lvl2pPr>
            <a:lvl3pPr indent="-381000" lvl="2" marL="1371600" marR="0" rtl="0" algn="l">
              <a:lnSpc>
                <a:spcPct val="100000"/>
              </a:lnSpc>
              <a:spcBef>
                <a:spcPts val="480"/>
              </a:spcBef>
              <a:spcAft>
                <a:spcPts val="0"/>
              </a:spcAft>
              <a:buClr>
                <a:schemeClr val="dk1"/>
              </a:buClr>
              <a:buSzPts val="2400"/>
              <a:buFont typeface="Manrope"/>
              <a:buChar char="•"/>
              <a:defRPr b="0" i="0" sz="2400" u="none" cap="none" strike="noStrike">
                <a:solidFill>
                  <a:schemeClr val="dk1"/>
                </a:solidFill>
                <a:latin typeface="Manrope"/>
                <a:ea typeface="Manrope"/>
                <a:cs typeface="Manrope"/>
                <a:sym typeface="Manrope"/>
              </a:defRPr>
            </a:lvl3pPr>
            <a:lvl4pPr indent="-355600" lvl="3" marL="1828800" marR="0" rtl="0" algn="l">
              <a:lnSpc>
                <a:spcPct val="100000"/>
              </a:lnSpc>
              <a:spcBef>
                <a:spcPts val="400"/>
              </a:spcBef>
              <a:spcAft>
                <a:spcPts val="0"/>
              </a:spcAft>
              <a:buClr>
                <a:schemeClr val="dk1"/>
              </a:buClr>
              <a:buSzPts val="2000"/>
              <a:buFont typeface="Manrope"/>
              <a:buChar char="–"/>
              <a:defRPr b="0" i="0" sz="2000" u="none" cap="none" strike="noStrike">
                <a:solidFill>
                  <a:schemeClr val="dk1"/>
                </a:solidFill>
                <a:latin typeface="Manrope"/>
                <a:ea typeface="Manrope"/>
                <a:cs typeface="Manrope"/>
                <a:sym typeface="Manrope"/>
              </a:defRPr>
            </a:lvl4pPr>
            <a:lvl5pPr indent="-355600" lvl="4" marL="2286000" marR="0" rtl="0" algn="l">
              <a:lnSpc>
                <a:spcPct val="100000"/>
              </a:lnSpc>
              <a:spcBef>
                <a:spcPts val="400"/>
              </a:spcBef>
              <a:spcAft>
                <a:spcPts val="0"/>
              </a:spcAft>
              <a:buClr>
                <a:schemeClr val="dk1"/>
              </a:buClr>
              <a:buSzPts val="2000"/>
              <a:buFont typeface="Manrope"/>
              <a:buChar char="»"/>
              <a:defRPr b="0" i="0" sz="2000" u="none" cap="none" strike="noStrike">
                <a:solidFill>
                  <a:schemeClr val="dk1"/>
                </a:solidFill>
                <a:latin typeface="Manrope"/>
                <a:ea typeface="Manrope"/>
                <a:cs typeface="Manrope"/>
                <a:sym typeface="Manrope"/>
              </a:defRPr>
            </a:lvl5pPr>
            <a:lvl6pPr indent="-355600" lvl="5" marL="2743200" marR="0" rtl="0" algn="l">
              <a:lnSpc>
                <a:spcPct val="100000"/>
              </a:lnSpc>
              <a:spcBef>
                <a:spcPts val="400"/>
              </a:spcBef>
              <a:spcAft>
                <a:spcPts val="0"/>
              </a:spcAft>
              <a:buClr>
                <a:schemeClr val="dk1"/>
              </a:buClr>
              <a:buSzPts val="2000"/>
              <a:buFont typeface="Manrope"/>
              <a:buChar char="•"/>
              <a:defRPr b="0" i="0" sz="2000" u="none" cap="none" strike="noStrike">
                <a:solidFill>
                  <a:schemeClr val="dk1"/>
                </a:solidFill>
                <a:latin typeface="Manrope"/>
                <a:ea typeface="Manrope"/>
                <a:cs typeface="Manrope"/>
                <a:sym typeface="Manrope"/>
              </a:defRPr>
            </a:lvl6pPr>
            <a:lvl7pPr indent="-355600" lvl="6" marL="3200400" marR="0" rtl="0" algn="l">
              <a:lnSpc>
                <a:spcPct val="100000"/>
              </a:lnSpc>
              <a:spcBef>
                <a:spcPts val="400"/>
              </a:spcBef>
              <a:spcAft>
                <a:spcPts val="0"/>
              </a:spcAft>
              <a:buClr>
                <a:schemeClr val="dk1"/>
              </a:buClr>
              <a:buSzPts val="2000"/>
              <a:buFont typeface="Manrope"/>
              <a:buChar char="•"/>
              <a:defRPr b="0" i="0" sz="2000" u="none" cap="none" strike="noStrike">
                <a:solidFill>
                  <a:schemeClr val="dk1"/>
                </a:solidFill>
                <a:latin typeface="Manrope"/>
                <a:ea typeface="Manrope"/>
                <a:cs typeface="Manrope"/>
                <a:sym typeface="Manrope"/>
              </a:defRPr>
            </a:lvl7pPr>
            <a:lvl8pPr indent="-355600" lvl="7" marL="3657600" marR="0" rtl="0" algn="l">
              <a:lnSpc>
                <a:spcPct val="100000"/>
              </a:lnSpc>
              <a:spcBef>
                <a:spcPts val="400"/>
              </a:spcBef>
              <a:spcAft>
                <a:spcPts val="0"/>
              </a:spcAft>
              <a:buClr>
                <a:schemeClr val="dk1"/>
              </a:buClr>
              <a:buSzPts val="2000"/>
              <a:buFont typeface="Manrope"/>
              <a:buChar char="•"/>
              <a:defRPr b="0" i="0" sz="2000" u="none" cap="none" strike="noStrike">
                <a:solidFill>
                  <a:schemeClr val="dk1"/>
                </a:solidFill>
                <a:latin typeface="Manrope"/>
                <a:ea typeface="Manrope"/>
                <a:cs typeface="Manrope"/>
                <a:sym typeface="Manrope"/>
              </a:defRPr>
            </a:lvl8pPr>
            <a:lvl9pPr indent="-355600" lvl="8" marL="4114800" marR="0" rtl="0" algn="l">
              <a:lnSpc>
                <a:spcPct val="100000"/>
              </a:lnSpc>
              <a:spcBef>
                <a:spcPts val="400"/>
              </a:spcBef>
              <a:spcAft>
                <a:spcPts val="0"/>
              </a:spcAft>
              <a:buClr>
                <a:schemeClr val="dk1"/>
              </a:buClr>
              <a:buSzPts val="2000"/>
              <a:buFont typeface="Manrope"/>
              <a:buChar char="•"/>
              <a:defRPr b="0" i="0" sz="2000" u="none" cap="none" strike="noStrike">
                <a:solidFill>
                  <a:schemeClr val="dk1"/>
                </a:solidFill>
                <a:latin typeface="Manrope"/>
                <a:ea typeface="Manrope"/>
                <a:cs typeface="Manrope"/>
                <a:sym typeface="Manrope"/>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Manrope"/>
              <a:buNone/>
              <a:defRPr b="0" i="0" sz="1200" u="none" cap="none" strike="noStrike">
                <a:solidFill>
                  <a:srgbClr val="888888"/>
                </a:solidFill>
                <a:latin typeface="Manrope"/>
                <a:ea typeface="Manrope"/>
                <a:cs typeface="Manrope"/>
                <a:sym typeface="Manrop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Manrope"/>
              <a:buNone/>
              <a:defRPr b="0" i="0" sz="1200" u="none" cap="none" strike="noStrike">
                <a:solidFill>
                  <a:srgbClr val="888888"/>
                </a:solidFill>
                <a:latin typeface="Manrope"/>
                <a:ea typeface="Manrope"/>
                <a:cs typeface="Manrope"/>
                <a:sym typeface="Manrope"/>
              </a:defRPr>
            </a:lvl1pPr>
            <a:lvl2pPr lvl="1" marR="0" rtl="0" algn="l">
              <a:lnSpc>
                <a:spcPct val="100000"/>
              </a:lnSpc>
              <a:spcBef>
                <a:spcPts val="0"/>
              </a:spcBef>
              <a:spcAft>
                <a:spcPts val="0"/>
              </a:spcAft>
              <a:buClr>
                <a:srgbClr val="000000"/>
              </a:buClr>
              <a:buSzPts val="1400"/>
              <a:buFont typeface="Manrope"/>
              <a:buNone/>
              <a:defRPr b="0" i="0" sz="1800" u="none" cap="none" strike="noStrike">
                <a:solidFill>
                  <a:schemeClr val="dk1"/>
                </a:solidFill>
                <a:latin typeface="Manrope"/>
                <a:ea typeface="Manrope"/>
                <a:cs typeface="Manrope"/>
                <a:sym typeface="Manrope"/>
              </a:defRPr>
            </a:lvl2pPr>
            <a:lvl3pPr lvl="2" marR="0" rtl="0" algn="l">
              <a:lnSpc>
                <a:spcPct val="100000"/>
              </a:lnSpc>
              <a:spcBef>
                <a:spcPts val="0"/>
              </a:spcBef>
              <a:spcAft>
                <a:spcPts val="0"/>
              </a:spcAft>
              <a:buClr>
                <a:srgbClr val="000000"/>
              </a:buClr>
              <a:buSzPts val="1400"/>
              <a:buFont typeface="Manrope"/>
              <a:buNone/>
              <a:defRPr b="0" i="0" sz="1800" u="none" cap="none" strike="noStrike">
                <a:solidFill>
                  <a:schemeClr val="dk1"/>
                </a:solidFill>
                <a:latin typeface="Manrope"/>
                <a:ea typeface="Manrope"/>
                <a:cs typeface="Manrope"/>
                <a:sym typeface="Manrope"/>
              </a:defRPr>
            </a:lvl3pPr>
            <a:lvl4pPr lvl="3" marR="0" rtl="0" algn="l">
              <a:lnSpc>
                <a:spcPct val="100000"/>
              </a:lnSpc>
              <a:spcBef>
                <a:spcPts val="0"/>
              </a:spcBef>
              <a:spcAft>
                <a:spcPts val="0"/>
              </a:spcAft>
              <a:buClr>
                <a:srgbClr val="000000"/>
              </a:buClr>
              <a:buSzPts val="1400"/>
              <a:buFont typeface="Manrope"/>
              <a:buNone/>
              <a:defRPr b="0" i="0" sz="1800" u="none" cap="none" strike="noStrike">
                <a:solidFill>
                  <a:schemeClr val="dk1"/>
                </a:solidFill>
                <a:latin typeface="Manrope"/>
                <a:ea typeface="Manrope"/>
                <a:cs typeface="Manrope"/>
                <a:sym typeface="Manrope"/>
              </a:defRPr>
            </a:lvl4pPr>
            <a:lvl5pPr lvl="4" marR="0" rtl="0" algn="l">
              <a:lnSpc>
                <a:spcPct val="100000"/>
              </a:lnSpc>
              <a:spcBef>
                <a:spcPts val="0"/>
              </a:spcBef>
              <a:spcAft>
                <a:spcPts val="0"/>
              </a:spcAft>
              <a:buClr>
                <a:srgbClr val="000000"/>
              </a:buClr>
              <a:buSzPts val="1400"/>
              <a:buFont typeface="Manrope"/>
              <a:buNone/>
              <a:defRPr b="0" i="0" sz="1800" u="none" cap="none" strike="noStrike">
                <a:solidFill>
                  <a:schemeClr val="dk1"/>
                </a:solidFill>
                <a:latin typeface="Manrope"/>
                <a:ea typeface="Manrope"/>
                <a:cs typeface="Manrope"/>
                <a:sym typeface="Manrope"/>
              </a:defRPr>
            </a:lvl5pPr>
            <a:lvl6pPr lvl="5" marR="0" rtl="0" algn="l">
              <a:lnSpc>
                <a:spcPct val="100000"/>
              </a:lnSpc>
              <a:spcBef>
                <a:spcPts val="0"/>
              </a:spcBef>
              <a:spcAft>
                <a:spcPts val="0"/>
              </a:spcAft>
              <a:buClr>
                <a:srgbClr val="000000"/>
              </a:buClr>
              <a:buSzPts val="1400"/>
              <a:buFont typeface="Manrope"/>
              <a:buNone/>
              <a:defRPr b="0" i="0" sz="1800" u="none" cap="none" strike="noStrike">
                <a:solidFill>
                  <a:schemeClr val="dk1"/>
                </a:solidFill>
                <a:latin typeface="Manrope"/>
                <a:ea typeface="Manrope"/>
                <a:cs typeface="Manrope"/>
                <a:sym typeface="Manrope"/>
              </a:defRPr>
            </a:lvl6pPr>
            <a:lvl7pPr lvl="6" marR="0" rtl="0" algn="l">
              <a:lnSpc>
                <a:spcPct val="100000"/>
              </a:lnSpc>
              <a:spcBef>
                <a:spcPts val="0"/>
              </a:spcBef>
              <a:spcAft>
                <a:spcPts val="0"/>
              </a:spcAft>
              <a:buClr>
                <a:srgbClr val="000000"/>
              </a:buClr>
              <a:buSzPts val="1400"/>
              <a:buFont typeface="Manrope"/>
              <a:buNone/>
              <a:defRPr b="0" i="0" sz="1800" u="none" cap="none" strike="noStrike">
                <a:solidFill>
                  <a:schemeClr val="dk1"/>
                </a:solidFill>
                <a:latin typeface="Manrope"/>
                <a:ea typeface="Manrope"/>
                <a:cs typeface="Manrope"/>
                <a:sym typeface="Manrope"/>
              </a:defRPr>
            </a:lvl7pPr>
            <a:lvl8pPr lvl="7" marR="0" rtl="0" algn="l">
              <a:lnSpc>
                <a:spcPct val="100000"/>
              </a:lnSpc>
              <a:spcBef>
                <a:spcPts val="0"/>
              </a:spcBef>
              <a:spcAft>
                <a:spcPts val="0"/>
              </a:spcAft>
              <a:buClr>
                <a:srgbClr val="000000"/>
              </a:buClr>
              <a:buSzPts val="1400"/>
              <a:buFont typeface="Manrope"/>
              <a:buNone/>
              <a:defRPr b="0" i="0" sz="1800" u="none" cap="none" strike="noStrike">
                <a:solidFill>
                  <a:schemeClr val="dk1"/>
                </a:solidFill>
                <a:latin typeface="Manrope"/>
                <a:ea typeface="Manrope"/>
                <a:cs typeface="Manrope"/>
                <a:sym typeface="Manrope"/>
              </a:defRPr>
            </a:lvl8pPr>
            <a:lvl9pPr lvl="8" marR="0" rtl="0" algn="l">
              <a:lnSpc>
                <a:spcPct val="100000"/>
              </a:lnSpc>
              <a:spcBef>
                <a:spcPts val="0"/>
              </a:spcBef>
              <a:spcAft>
                <a:spcPts val="0"/>
              </a:spcAft>
              <a:buClr>
                <a:srgbClr val="000000"/>
              </a:buClr>
              <a:buSzPts val="1400"/>
              <a:buFont typeface="Manrope"/>
              <a:buNone/>
              <a:defRPr b="0" i="0" sz="1800" u="none" cap="none" strike="noStrike">
                <a:solidFill>
                  <a:schemeClr val="dk1"/>
                </a:solidFill>
                <a:latin typeface="Manrope"/>
                <a:ea typeface="Manrope"/>
                <a:cs typeface="Manrope"/>
                <a:sym typeface="Manrope"/>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825" y="0"/>
            <a:ext cx="18413700" cy="10359900"/>
          </a:xfrm>
          <a:prstGeom prst="rect">
            <a:avLst/>
          </a:prstGeom>
          <a:solidFill>
            <a:srgbClr val="000000"/>
          </a:solidFill>
          <a:ln>
            <a:noFill/>
          </a:ln>
        </p:spPr>
        <p:txBody>
          <a:bodyPr anchorCtr="0" anchor="ctr" bIns="88500" lIns="88500" spcFirstLastPara="1" rIns="88500" wrap="square" tIns="88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5" name="Google Shape;85;p1"/>
          <p:cNvPicPr preferRelativeResize="0"/>
          <p:nvPr/>
        </p:nvPicPr>
        <p:blipFill rotWithShape="1">
          <a:blip r:embed="rId3">
            <a:alphaModFix amt="73000"/>
          </a:blip>
          <a:srcRect b="6015" l="0" r="0" t="0"/>
          <a:stretch/>
        </p:blipFill>
        <p:spPr>
          <a:xfrm flipH="1" rot="5400000">
            <a:off x="9872138" y="1940988"/>
            <a:ext cx="10212825" cy="6616699"/>
          </a:xfrm>
          <a:prstGeom prst="rect">
            <a:avLst/>
          </a:prstGeom>
          <a:noFill/>
          <a:ln>
            <a:noFill/>
          </a:ln>
        </p:spPr>
      </p:pic>
      <p:sp>
        <p:nvSpPr>
          <p:cNvPr id="86" name="Google Shape;86;p1"/>
          <p:cNvSpPr txBox="1"/>
          <p:nvPr/>
        </p:nvSpPr>
        <p:spPr>
          <a:xfrm>
            <a:off x="12588901" y="9177025"/>
            <a:ext cx="5231100" cy="486600"/>
          </a:xfrm>
          <a:prstGeom prst="rect">
            <a:avLst/>
          </a:prstGeom>
          <a:noFill/>
          <a:ln>
            <a:noFill/>
          </a:ln>
        </p:spPr>
        <p:txBody>
          <a:bodyPr anchorCtr="0" anchor="t" bIns="88500" lIns="88500" spcFirstLastPara="1" rIns="88500" wrap="square" tIns="88500">
            <a:spAutoFit/>
          </a:bodyPr>
          <a:lstStyle/>
          <a:p>
            <a:pPr indent="0" lvl="0" marL="0" marR="0" rtl="0" algn="r">
              <a:lnSpc>
                <a:spcPct val="100000"/>
              </a:lnSpc>
              <a:spcBef>
                <a:spcPts val="0"/>
              </a:spcBef>
              <a:spcAft>
                <a:spcPts val="0"/>
              </a:spcAft>
              <a:buClr>
                <a:srgbClr val="000000"/>
              </a:buClr>
              <a:buSzPts val="1600"/>
              <a:buFont typeface="Arial"/>
              <a:buNone/>
            </a:pPr>
            <a:r>
              <a:rPr b="1" i="0" lang="es-ES" sz="2000" u="none" cap="none" strike="noStrike">
                <a:solidFill>
                  <a:srgbClr val="FFFFFF"/>
                </a:solidFill>
                <a:latin typeface="Manrope"/>
                <a:ea typeface="Manrope"/>
                <a:cs typeface="Manrope"/>
                <a:sym typeface="Manrope"/>
              </a:rPr>
              <a:t>Learn </a:t>
            </a:r>
            <a:r>
              <a:rPr b="0" i="0" lang="es-ES" sz="2000" u="none" cap="none" strike="noStrike">
                <a:solidFill>
                  <a:srgbClr val="FFFFFF"/>
                </a:solidFill>
                <a:latin typeface="Manrope"/>
                <a:ea typeface="Manrope"/>
                <a:cs typeface="Manrope"/>
                <a:sym typeface="Manrope"/>
              </a:rPr>
              <a:t>[to be] </a:t>
            </a:r>
            <a:r>
              <a:rPr b="1" i="0" lang="es-ES" sz="2000" u="none" cap="none" strike="noStrike">
                <a:solidFill>
                  <a:srgbClr val="FFFFFF"/>
                </a:solidFill>
                <a:latin typeface="Manrope"/>
                <a:ea typeface="Manrope"/>
                <a:cs typeface="Manrope"/>
                <a:sym typeface="Manrope"/>
              </a:rPr>
              <a:t>the future</a:t>
            </a:r>
            <a:endParaRPr b="0" i="0" sz="1800" u="none" cap="none" strike="noStrike">
              <a:solidFill>
                <a:srgbClr val="FFFFFF"/>
              </a:solidFill>
              <a:latin typeface="Arial"/>
              <a:ea typeface="Arial"/>
              <a:cs typeface="Arial"/>
              <a:sym typeface="Arial"/>
            </a:endParaRPr>
          </a:p>
        </p:txBody>
      </p:sp>
      <p:sp>
        <p:nvSpPr>
          <p:cNvPr id="87" name="Google Shape;87;p1"/>
          <p:cNvSpPr txBox="1"/>
          <p:nvPr/>
        </p:nvSpPr>
        <p:spPr>
          <a:xfrm>
            <a:off x="651175" y="4218350"/>
            <a:ext cx="14493000" cy="1342500"/>
          </a:xfrm>
          <a:prstGeom prst="rect">
            <a:avLst/>
          </a:prstGeom>
          <a:noFill/>
          <a:ln>
            <a:noFill/>
          </a:ln>
        </p:spPr>
        <p:txBody>
          <a:bodyPr anchorCtr="0" anchor="t" bIns="176950" lIns="176950" spcFirstLastPara="1" rIns="176950" wrap="square" tIns="176950">
            <a:spAutoFit/>
          </a:bodyPr>
          <a:lstStyle/>
          <a:p>
            <a:pPr indent="0" lvl="0" marL="0" marR="0" rtl="0" algn="l">
              <a:lnSpc>
                <a:spcPct val="100000"/>
              </a:lnSpc>
              <a:spcBef>
                <a:spcPts val="0"/>
              </a:spcBef>
              <a:spcAft>
                <a:spcPts val="0"/>
              </a:spcAft>
              <a:buClr>
                <a:srgbClr val="000000"/>
              </a:buClr>
              <a:buSzPts val="6400"/>
              <a:buFont typeface="Arial"/>
              <a:buNone/>
            </a:pPr>
            <a:r>
              <a:rPr b="1" i="0" lang="es-ES" sz="6400" u="none" cap="none" strike="noStrike">
                <a:solidFill>
                  <a:srgbClr val="FFFFFF"/>
                </a:solidFill>
                <a:latin typeface="Manrope"/>
                <a:ea typeface="Manrope"/>
                <a:cs typeface="Manrope"/>
                <a:sym typeface="Manrope"/>
              </a:rPr>
              <a:t>MACHINE LEARNING</a:t>
            </a:r>
            <a:endParaRPr b="0" i="0" sz="6400" u="none" cap="none" strike="noStrike">
              <a:solidFill>
                <a:srgbClr val="FFFFFF"/>
              </a:solidFill>
              <a:latin typeface="Manrope Light"/>
              <a:ea typeface="Manrope Light"/>
              <a:cs typeface="Manrope Light"/>
              <a:sym typeface="Manrope Light"/>
            </a:endParaRPr>
          </a:p>
        </p:txBody>
      </p:sp>
      <p:sp>
        <p:nvSpPr>
          <p:cNvPr id="88" name="Google Shape;88;p1"/>
          <p:cNvSpPr txBox="1"/>
          <p:nvPr/>
        </p:nvSpPr>
        <p:spPr>
          <a:xfrm>
            <a:off x="654541" y="5184616"/>
            <a:ext cx="10157100" cy="788400"/>
          </a:xfrm>
          <a:prstGeom prst="rect">
            <a:avLst/>
          </a:prstGeom>
          <a:noFill/>
          <a:ln>
            <a:noFill/>
          </a:ln>
        </p:spPr>
        <p:txBody>
          <a:bodyPr anchorCtr="0" anchor="t" bIns="176950" lIns="176950" spcFirstLastPara="1" rIns="176950" wrap="square" tIns="176950">
            <a:spAutoFit/>
          </a:bodyPr>
          <a:lstStyle/>
          <a:p>
            <a:pPr indent="0" lvl="0" marL="0" marR="0" rtl="0" algn="l">
              <a:lnSpc>
                <a:spcPct val="100000"/>
              </a:lnSpc>
              <a:spcBef>
                <a:spcPts val="0"/>
              </a:spcBef>
              <a:spcAft>
                <a:spcPts val="0"/>
              </a:spcAft>
              <a:buClr>
                <a:srgbClr val="000000"/>
              </a:buClr>
              <a:buSzPts val="2800"/>
              <a:buFont typeface="Arial"/>
              <a:buNone/>
            </a:pPr>
            <a:r>
              <a:rPr lang="es-ES" sz="2800">
                <a:solidFill>
                  <a:srgbClr val="FFFFFF"/>
                </a:solidFill>
                <a:latin typeface="Manrope ExtraLight"/>
                <a:ea typeface="Manrope ExtraLight"/>
                <a:cs typeface="Manrope ExtraLight"/>
                <a:sym typeface="Manrope ExtraLight"/>
              </a:rPr>
              <a:t>ENTREGABLE - CONTEXTO</a:t>
            </a:r>
            <a:endParaRPr b="0" i="0" sz="2800" u="none" cap="none" strike="noStrike">
              <a:solidFill>
                <a:srgbClr val="FFFFFF"/>
              </a:solidFill>
              <a:latin typeface="Manrope ExtraLight"/>
              <a:ea typeface="Manrope ExtraLight"/>
              <a:cs typeface="Manrope ExtraLight"/>
              <a:sym typeface="Manrope ExtraLight"/>
            </a:endParaRPr>
          </a:p>
        </p:txBody>
      </p:sp>
      <p:pic>
        <p:nvPicPr>
          <p:cNvPr id="89" name="Google Shape;89;p1"/>
          <p:cNvPicPr preferRelativeResize="0"/>
          <p:nvPr/>
        </p:nvPicPr>
        <p:blipFill rotWithShape="1">
          <a:blip r:embed="rId4">
            <a:alphaModFix/>
          </a:blip>
          <a:srcRect b="0" l="0" r="0" t="0"/>
          <a:stretch/>
        </p:blipFill>
        <p:spPr>
          <a:xfrm>
            <a:off x="880650" y="8875225"/>
            <a:ext cx="2063260" cy="788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4"/>
          <p:cNvSpPr/>
          <p:nvPr/>
        </p:nvSpPr>
        <p:spPr>
          <a:xfrm>
            <a:off x="7604125" y="-135800"/>
            <a:ext cx="10683875" cy="10422925"/>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5" name="Google Shape;95;p24"/>
          <p:cNvPicPr preferRelativeResize="0"/>
          <p:nvPr/>
        </p:nvPicPr>
        <p:blipFill rotWithShape="1">
          <a:blip r:embed="rId3">
            <a:alphaModFix/>
          </a:blip>
          <a:srcRect b="39" l="0" r="0" t="49"/>
          <a:stretch/>
        </p:blipFill>
        <p:spPr>
          <a:xfrm>
            <a:off x="17624636" y="9674589"/>
            <a:ext cx="446681" cy="446681"/>
          </a:xfrm>
          <a:prstGeom prst="rect">
            <a:avLst/>
          </a:prstGeom>
          <a:noFill/>
          <a:ln>
            <a:noFill/>
          </a:ln>
        </p:spPr>
      </p:pic>
      <p:sp>
        <p:nvSpPr>
          <p:cNvPr id="96" name="Google Shape;96;p24"/>
          <p:cNvSpPr txBox="1"/>
          <p:nvPr/>
        </p:nvSpPr>
        <p:spPr>
          <a:xfrm>
            <a:off x="14516700" y="350700"/>
            <a:ext cx="3378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0" i="0" lang="es-ES" sz="1400" u="none" cap="none" strike="noStrike">
                <a:solidFill>
                  <a:schemeClr val="accent3"/>
                </a:solidFill>
                <a:latin typeface="Manrope"/>
                <a:ea typeface="Manrope"/>
                <a:cs typeface="Manrope"/>
                <a:sym typeface="Manrope"/>
              </a:rPr>
              <a:t>NUCLIO DIGITAL SCHOOL</a:t>
            </a:r>
            <a:endParaRPr b="0" i="0" sz="1400" u="none" cap="none" strike="noStrike">
              <a:solidFill>
                <a:schemeClr val="accent3"/>
              </a:solidFill>
              <a:latin typeface="Manrope"/>
              <a:ea typeface="Manrope"/>
              <a:cs typeface="Manrope"/>
              <a:sym typeface="Manrope"/>
            </a:endParaRPr>
          </a:p>
        </p:txBody>
      </p:sp>
      <p:sp>
        <p:nvSpPr>
          <p:cNvPr id="97" name="Google Shape;97;p24"/>
          <p:cNvSpPr txBox="1"/>
          <p:nvPr/>
        </p:nvSpPr>
        <p:spPr>
          <a:xfrm>
            <a:off x="1215196" y="4090275"/>
            <a:ext cx="55278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800"/>
              <a:buFont typeface="Arial"/>
              <a:buNone/>
            </a:pPr>
            <a:r>
              <a:rPr b="1" lang="es-ES" sz="5800">
                <a:solidFill>
                  <a:schemeClr val="dk1"/>
                </a:solidFill>
                <a:latin typeface="Manrope"/>
                <a:ea typeface="Manrope"/>
                <a:cs typeface="Manrope"/>
                <a:sym typeface="Manrope"/>
              </a:rPr>
              <a:t>Contexto</a:t>
            </a:r>
            <a:endParaRPr b="0" i="0" sz="1400" u="none" cap="none" strike="noStrike">
              <a:solidFill>
                <a:srgbClr val="000000"/>
              </a:solidFill>
              <a:latin typeface="Arial"/>
              <a:ea typeface="Arial"/>
              <a:cs typeface="Arial"/>
              <a:sym typeface="Arial"/>
            </a:endParaRPr>
          </a:p>
        </p:txBody>
      </p:sp>
      <p:sp>
        <p:nvSpPr>
          <p:cNvPr id="98" name="Google Shape;98;p24"/>
          <p:cNvSpPr txBox="1"/>
          <p:nvPr/>
        </p:nvSpPr>
        <p:spPr>
          <a:xfrm>
            <a:off x="387550" y="354089"/>
            <a:ext cx="5217152" cy="4000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s-ES">
                <a:solidFill>
                  <a:schemeClr val="accent3"/>
                </a:solidFill>
                <a:latin typeface="Manrope"/>
                <a:ea typeface="Manrope"/>
                <a:cs typeface="Manrope"/>
                <a:sym typeface="Manrope"/>
              </a:rPr>
              <a:t>ENTREGABLE - CONTEXTO</a:t>
            </a:r>
            <a:endParaRPr b="0" i="0" sz="1400" u="none" cap="none" strike="noStrike">
              <a:solidFill>
                <a:schemeClr val="accent3"/>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25"/>
          <p:cNvPicPr preferRelativeResize="0"/>
          <p:nvPr/>
        </p:nvPicPr>
        <p:blipFill rotWithShape="1">
          <a:blip r:embed="rId3">
            <a:alphaModFix/>
          </a:blip>
          <a:srcRect b="39" l="0" r="0" t="49"/>
          <a:stretch/>
        </p:blipFill>
        <p:spPr>
          <a:xfrm>
            <a:off x="17624636" y="9674589"/>
            <a:ext cx="446681" cy="446681"/>
          </a:xfrm>
          <a:prstGeom prst="rect">
            <a:avLst/>
          </a:prstGeom>
          <a:noFill/>
          <a:ln>
            <a:noFill/>
          </a:ln>
        </p:spPr>
      </p:pic>
      <p:sp>
        <p:nvSpPr>
          <p:cNvPr id="104" name="Google Shape;104;p25"/>
          <p:cNvSpPr txBox="1"/>
          <p:nvPr/>
        </p:nvSpPr>
        <p:spPr>
          <a:xfrm>
            <a:off x="14516700" y="350700"/>
            <a:ext cx="3378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0" i="0" lang="es-ES" sz="1400" u="none" cap="none" strike="noStrike">
                <a:solidFill>
                  <a:schemeClr val="accent3"/>
                </a:solidFill>
                <a:latin typeface="Manrope"/>
                <a:ea typeface="Manrope"/>
                <a:cs typeface="Manrope"/>
                <a:sym typeface="Manrope"/>
              </a:rPr>
              <a:t>NUCLIO DIGITAL SCHOOL</a:t>
            </a:r>
            <a:endParaRPr b="0" i="0" sz="1400" u="none" cap="none" strike="noStrike">
              <a:solidFill>
                <a:schemeClr val="accent3"/>
              </a:solidFill>
              <a:latin typeface="Manrope"/>
              <a:ea typeface="Manrope"/>
              <a:cs typeface="Manrope"/>
              <a:sym typeface="Manrope"/>
            </a:endParaRPr>
          </a:p>
        </p:txBody>
      </p:sp>
      <p:sp>
        <p:nvSpPr>
          <p:cNvPr id="105" name="Google Shape;105;p25"/>
          <p:cNvSpPr txBox="1"/>
          <p:nvPr/>
        </p:nvSpPr>
        <p:spPr>
          <a:xfrm>
            <a:off x="2980076" y="1433925"/>
            <a:ext cx="11881800" cy="985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200"/>
              <a:buFont typeface="Arial"/>
              <a:buNone/>
            </a:pPr>
            <a:r>
              <a:rPr b="1" lang="es-ES" sz="5200">
                <a:solidFill>
                  <a:schemeClr val="dk1"/>
                </a:solidFill>
                <a:latin typeface="Manrope"/>
                <a:ea typeface="Manrope"/>
                <a:cs typeface="Manrope"/>
                <a:sym typeface="Manrope"/>
              </a:rPr>
              <a:t>Contexto de negocio</a:t>
            </a:r>
            <a:endParaRPr b="0" i="0" sz="1400" u="none" cap="none" strike="noStrike">
              <a:solidFill>
                <a:srgbClr val="000000"/>
              </a:solidFill>
              <a:latin typeface="Arial"/>
              <a:ea typeface="Arial"/>
              <a:cs typeface="Arial"/>
              <a:sym typeface="Arial"/>
            </a:endParaRPr>
          </a:p>
        </p:txBody>
      </p:sp>
      <p:sp>
        <p:nvSpPr>
          <p:cNvPr id="106" name="Google Shape;106;p25"/>
          <p:cNvSpPr txBox="1"/>
          <p:nvPr/>
        </p:nvSpPr>
        <p:spPr>
          <a:xfrm>
            <a:off x="387550" y="354089"/>
            <a:ext cx="521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s-ES">
                <a:solidFill>
                  <a:schemeClr val="accent3"/>
                </a:solidFill>
                <a:latin typeface="Manrope"/>
                <a:ea typeface="Manrope"/>
                <a:cs typeface="Manrope"/>
                <a:sym typeface="Manrope"/>
              </a:rPr>
              <a:t>ENTREGABLE - CONTEXTO</a:t>
            </a:r>
            <a:endParaRPr b="0" i="0" sz="1400" u="none" cap="none" strike="noStrike">
              <a:solidFill>
                <a:schemeClr val="accent3"/>
              </a:solidFill>
              <a:latin typeface="Arial"/>
              <a:ea typeface="Arial"/>
              <a:cs typeface="Arial"/>
              <a:sym typeface="Arial"/>
            </a:endParaRPr>
          </a:p>
        </p:txBody>
      </p:sp>
      <p:pic>
        <p:nvPicPr>
          <p:cNvPr descr="A graph with a dollar sign&#10;&#10;Descripción generada automáticamente" id="107" name="Google Shape;107;p25"/>
          <p:cNvPicPr preferRelativeResize="0"/>
          <p:nvPr/>
        </p:nvPicPr>
        <p:blipFill rotWithShape="1">
          <a:blip r:embed="rId4">
            <a:alphaModFix/>
          </a:blip>
          <a:srcRect b="0" l="0" r="0" t="0"/>
          <a:stretch/>
        </p:blipFill>
        <p:spPr>
          <a:xfrm>
            <a:off x="1685754" y="3620292"/>
            <a:ext cx="2863601" cy="2820925"/>
          </a:xfrm>
          <a:prstGeom prst="rect">
            <a:avLst/>
          </a:prstGeom>
          <a:noFill/>
          <a:ln>
            <a:noFill/>
          </a:ln>
        </p:spPr>
      </p:pic>
      <p:sp>
        <p:nvSpPr>
          <p:cNvPr id="108" name="Google Shape;108;p25"/>
          <p:cNvSpPr txBox="1"/>
          <p:nvPr/>
        </p:nvSpPr>
        <p:spPr>
          <a:xfrm>
            <a:off x="6225225" y="3760850"/>
            <a:ext cx="9169800" cy="2539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ES" sz="1800">
                <a:solidFill>
                  <a:srgbClr val="14110F"/>
                </a:solidFill>
                <a:latin typeface="Manrope"/>
                <a:ea typeface="Manrope"/>
                <a:cs typeface="Manrope"/>
                <a:sym typeface="Manrope"/>
              </a:rPr>
              <a:t>A la compañía de telecomunicaciones MobileNOW le preocupa el descenso de número de clientes activos tras sufrir numerosas bajas en los últimos trimestres. </a:t>
            </a:r>
            <a:endParaRPr sz="1800">
              <a:solidFill>
                <a:srgbClr val="14110F"/>
              </a:solidFill>
              <a:latin typeface="Manrope"/>
              <a:ea typeface="Manrope"/>
              <a:cs typeface="Manrope"/>
              <a:sym typeface="Manrope"/>
            </a:endParaRPr>
          </a:p>
          <a:p>
            <a:pPr indent="0" lvl="0" marL="0" rtl="0" algn="l">
              <a:lnSpc>
                <a:spcPct val="150000"/>
              </a:lnSpc>
              <a:spcBef>
                <a:spcPts val="0"/>
              </a:spcBef>
              <a:spcAft>
                <a:spcPts val="0"/>
              </a:spcAft>
              <a:buNone/>
            </a:pPr>
            <a:r>
              <a:rPr lang="es-ES" sz="1800">
                <a:solidFill>
                  <a:srgbClr val="14110F"/>
                </a:solidFill>
                <a:latin typeface="Manrope"/>
                <a:ea typeface="Manrope"/>
                <a:cs typeface="Manrope"/>
                <a:sym typeface="Manrope"/>
              </a:rPr>
              <a:t>Para combatirlo deciden impulsar una campaña de retención de clientes donde centrarán parte de los recursos de telemarketing en evitar que los clientes se den de baja del servicio ofreciéndoles unas condiciones especiales si decidieran renovar por un año más.</a:t>
            </a:r>
            <a:endParaRPr sz="1800">
              <a:solidFill>
                <a:srgbClr val="14110F"/>
              </a:solidFill>
              <a:latin typeface="Manrope"/>
              <a:ea typeface="Manrope"/>
              <a:cs typeface="Manrope"/>
              <a:sym typeface="Manrop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g33917eb5ed2_0_2"/>
          <p:cNvPicPr preferRelativeResize="0"/>
          <p:nvPr/>
        </p:nvPicPr>
        <p:blipFill rotWithShape="1">
          <a:blip r:embed="rId3">
            <a:alphaModFix/>
          </a:blip>
          <a:srcRect b="39" l="0" r="0" t="49"/>
          <a:stretch/>
        </p:blipFill>
        <p:spPr>
          <a:xfrm>
            <a:off x="17624636" y="9674589"/>
            <a:ext cx="446681" cy="446681"/>
          </a:xfrm>
          <a:prstGeom prst="rect">
            <a:avLst/>
          </a:prstGeom>
          <a:noFill/>
          <a:ln>
            <a:noFill/>
          </a:ln>
        </p:spPr>
      </p:pic>
      <p:sp>
        <p:nvSpPr>
          <p:cNvPr id="114" name="Google Shape;114;g33917eb5ed2_0_2"/>
          <p:cNvSpPr txBox="1"/>
          <p:nvPr/>
        </p:nvSpPr>
        <p:spPr>
          <a:xfrm>
            <a:off x="14516700" y="350700"/>
            <a:ext cx="3378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0" i="0" lang="es-ES" sz="1400" u="none" cap="none" strike="noStrike">
                <a:solidFill>
                  <a:schemeClr val="accent3"/>
                </a:solidFill>
                <a:latin typeface="Manrope"/>
                <a:ea typeface="Manrope"/>
                <a:cs typeface="Manrope"/>
                <a:sym typeface="Manrope"/>
              </a:rPr>
              <a:t>NUCLIO DIGITAL SCHOOL</a:t>
            </a:r>
            <a:endParaRPr b="0" i="0" sz="1400" u="none" cap="none" strike="noStrike">
              <a:solidFill>
                <a:schemeClr val="accent3"/>
              </a:solidFill>
              <a:latin typeface="Manrope"/>
              <a:ea typeface="Manrope"/>
              <a:cs typeface="Manrope"/>
              <a:sym typeface="Manrope"/>
            </a:endParaRPr>
          </a:p>
        </p:txBody>
      </p:sp>
      <p:sp>
        <p:nvSpPr>
          <p:cNvPr id="115" name="Google Shape;115;g33917eb5ed2_0_2"/>
          <p:cNvSpPr txBox="1"/>
          <p:nvPr/>
        </p:nvSpPr>
        <p:spPr>
          <a:xfrm>
            <a:off x="1633550" y="3873600"/>
            <a:ext cx="9169800" cy="2539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Font typeface="Arial"/>
              <a:buNone/>
            </a:pPr>
            <a:r>
              <a:rPr lang="es-ES" sz="1800">
                <a:solidFill>
                  <a:srgbClr val="14110F"/>
                </a:solidFill>
                <a:latin typeface="Manrope"/>
                <a:ea typeface="Manrope"/>
                <a:cs typeface="Manrope"/>
                <a:sym typeface="Manrope"/>
              </a:rPr>
              <a:t>Como Data Scientist, se te encarga lo siguiente:</a:t>
            </a:r>
            <a:endParaRPr sz="1800">
              <a:solidFill>
                <a:srgbClr val="14110F"/>
              </a:solidFill>
              <a:latin typeface="Manrope"/>
              <a:ea typeface="Manrope"/>
              <a:cs typeface="Manrope"/>
              <a:sym typeface="Manrope"/>
            </a:endParaRPr>
          </a:p>
          <a:p>
            <a:pPr indent="-457200" lvl="0" marL="457200" rtl="0" algn="l">
              <a:lnSpc>
                <a:spcPct val="150000"/>
              </a:lnSpc>
              <a:spcBef>
                <a:spcPts val="0"/>
              </a:spcBef>
              <a:spcAft>
                <a:spcPts val="0"/>
              </a:spcAft>
              <a:buClr>
                <a:schemeClr val="dk1"/>
              </a:buClr>
              <a:buSzPts val="1800"/>
              <a:buFont typeface="Manrope"/>
              <a:buAutoNum type="arabicPeriod"/>
            </a:pPr>
            <a:r>
              <a:rPr lang="es-ES" sz="1800">
                <a:solidFill>
                  <a:srgbClr val="14110F"/>
                </a:solidFill>
                <a:latin typeface="Manrope"/>
                <a:ea typeface="Manrope"/>
                <a:cs typeface="Manrope"/>
                <a:sym typeface="Manrope"/>
              </a:rPr>
              <a:t>Modelizar la probabilidad de abandono (abandono: churn=1) y calcular para 1.500 clientes preseleccionados la probabilidad de abandonar el próximo mes. Así se podrá centrar la campaña de retención en clientes más propensos </a:t>
            </a:r>
            <a:r>
              <a:rPr lang="es-ES" sz="1800">
                <a:solidFill>
                  <a:srgbClr val="14110F"/>
                </a:solidFill>
                <a:latin typeface="Manrope"/>
                <a:ea typeface="Manrope"/>
                <a:cs typeface="Manrope"/>
                <a:sym typeface="Manrope"/>
              </a:rPr>
              <a:t>a</a:t>
            </a:r>
            <a:r>
              <a:rPr lang="es-ES" sz="1800">
                <a:solidFill>
                  <a:srgbClr val="14110F"/>
                </a:solidFill>
                <a:latin typeface="Manrope"/>
                <a:ea typeface="Manrope"/>
                <a:cs typeface="Manrope"/>
                <a:sym typeface="Manrope"/>
              </a:rPr>
              <a:t> abandonar. </a:t>
            </a:r>
            <a:endParaRPr sz="1800">
              <a:solidFill>
                <a:schemeClr val="dk1"/>
              </a:solidFill>
              <a:latin typeface="Manrope"/>
              <a:ea typeface="Manrope"/>
              <a:cs typeface="Manrope"/>
              <a:sym typeface="Manrope"/>
            </a:endParaRPr>
          </a:p>
          <a:p>
            <a:pPr indent="-457200" lvl="0" marL="457200" rtl="0" algn="l">
              <a:lnSpc>
                <a:spcPct val="150000"/>
              </a:lnSpc>
              <a:spcBef>
                <a:spcPts val="0"/>
              </a:spcBef>
              <a:spcAft>
                <a:spcPts val="0"/>
              </a:spcAft>
              <a:buClr>
                <a:schemeClr val="dk1"/>
              </a:buClr>
              <a:buSzPts val="1800"/>
              <a:buFont typeface="Manrope"/>
              <a:buAutoNum type="arabicPeriod"/>
            </a:pPr>
            <a:r>
              <a:rPr lang="es-ES" sz="1800">
                <a:solidFill>
                  <a:srgbClr val="14110F"/>
                </a:solidFill>
                <a:latin typeface="Manrope"/>
                <a:ea typeface="Manrope"/>
                <a:cs typeface="Manrope"/>
                <a:sym typeface="Manrope"/>
              </a:rPr>
              <a:t> Entender qué factores tienen mayor impacto en la decisión del cliente de abandonar, para mejorar el servicio y combatir el abandono a largo plazo.</a:t>
            </a:r>
            <a:endParaRPr sz="2100">
              <a:solidFill>
                <a:schemeClr val="dk1"/>
              </a:solidFill>
              <a:latin typeface="Manrope"/>
              <a:ea typeface="Manrope"/>
              <a:cs typeface="Manrope"/>
              <a:sym typeface="Manrope"/>
            </a:endParaRPr>
          </a:p>
        </p:txBody>
      </p:sp>
      <p:sp>
        <p:nvSpPr>
          <p:cNvPr id="116" name="Google Shape;116;g33917eb5ed2_0_2"/>
          <p:cNvSpPr txBox="1"/>
          <p:nvPr/>
        </p:nvSpPr>
        <p:spPr>
          <a:xfrm>
            <a:off x="2980076" y="1433925"/>
            <a:ext cx="11881800" cy="985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200"/>
              <a:buFont typeface="Arial"/>
              <a:buNone/>
            </a:pPr>
            <a:r>
              <a:rPr b="1" lang="es-ES" sz="5200">
                <a:solidFill>
                  <a:schemeClr val="dk1"/>
                </a:solidFill>
                <a:latin typeface="Manrope"/>
                <a:ea typeface="Manrope"/>
                <a:cs typeface="Manrope"/>
                <a:sym typeface="Manrope"/>
              </a:rPr>
              <a:t>Tu misión</a:t>
            </a:r>
            <a:endParaRPr b="0" i="0" sz="1400" u="none" cap="none" strike="noStrike">
              <a:solidFill>
                <a:srgbClr val="000000"/>
              </a:solidFill>
              <a:latin typeface="Arial"/>
              <a:ea typeface="Arial"/>
              <a:cs typeface="Arial"/>
              <a:sym typeface="Arial"/>
            </a:endParaRPr>
          </a:p>
        </p:txBody>
      </p:sp>
      <p:sp>
        <p:nvSpPr>
          <p:cNvPr id="117" name="Google Shape;117;g33917eb5ed2_0_2"/>
          <p:cNvSpPr txBox="1"/>
          <p:nvPr/>
        </p:nvSpPr>
        <p:spPr>
          <a:xfrm>
            <a:off x="387550" y="354089"/>
            <a:ext cx="521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s-ES">
                <a:solidFill>
                  <a:schemeClr val="accent3"/>
                </a:solidFill>
                <a:latin typeface="Manrope"/>
                <a:ea typeface="Manrope"/>
                <a:cs typeface="Manrope"/>
                <a:sym typeface="Manrope"/>
              </a:rPr>
              <a:t>ENTREGABLE - CONTEXTO</a:t>
            </a:r>
            <a:endParaRPr b="0" i="0" sz="1400" u="none" cap="none" strike="noStrike">
              <a:solidFill>
                <a:schemeClr val="accent3"/>
              </a:solidFill>
              <a:latin typeface="Arial"/>
              <a:ea typeface="Arial"/>
              <a:cs typeface="Arial"/>
              <a:sym typeface="Arial"/>
            </a:endParaRPr>
          </a:p>
        </p:txBody>
      </p:sp>
      <p:pic>
        <p:nvPicPr>
          <p:cNvPr id="118" name="Google Shape;118;g33917eb5ed2_0_2"/>
          <p:cNvPicPr preferRelativeResize="0"/>
          <p:nvPr/>
        </p:nvPicPr>
        <p:blipFill>
          <a:blip r:embed="rId4">
            <a:alphaModFix/>
          </a:blip>
          <a:stretch>
            <a:fillRect/>
          </a:stretch>
        </p:blipFill>
        <p:spPr>
          <a:xfrm>
            <a:off x="12204371" y="3711722"/>
            <a:ext cx="2863599" cy="286356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3917eb5ed2_0_15"/>
          <p:cNvSpPr/>
          <p:nvPr/>
        </p:nvSpPr>
        <p:spPr>
          <a:xfrm>
            <a:off x="7604125" y="-135800"/>
            <a:ext cx="10683900" cy="104229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g33917eb5ed2_0_15"/>
          <p:cNvPicPr preferRelativeResize="0"/>
          <p:nvPr/>
        </p:nvPicPr>
        <p:blipFill rotWithShape="1">
          <a:blip r:embed="rId3">
            <a:alphaModFix/>
          </a:blip>
          <a:srcRect b="39" l="0" r="0" t="49"/>
          <a:stretch/>
        </p:blipFill>
        <p:spPr>
          <a:xfrm>
            <a:off x="17624636" y="9674589"/>
            <a:ext cx="446681" cy="446681"/>
          </a:xfrm>
          <a:prstGeom prst="rect">
            <a:avLst/>
          </a:prstGeom>
          <a:noFill/>
          <a:ln>
            <a:noFill/>
          </a:ln>
        </p:spPr>
      </p:pic>
      <p:sp>
        <p:nvSpPr>
          <p:cNvPr id="125" name="Google Shape;125;g33917eb5ed2_0_15"/>
          <p:cNvSpPr txBox="1"/>
          <p:nvPr/>
        </p:nvSpPr>
        <p:spPr>
          <a:xfrm>
            <a:off x="14516700" y="350700"/>
            <a:ext cx="3378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0" i="0" lang="es-ES" sz="1400" u="none" cap="none" strike="noStrike">
                <a:solidFill>
                  <a:schemeClr val="accent3"/>
                </a:solidFill>
                <a:latin typeface="Manrope"/>
                <a:ea typeface="Manrope"/>
                <a:cs typeface="Manrope"/>
                <a:sym typeface="Manrope"/>
              </a:rPr>
              <a:t>NUCLIO DIGITAL SCHOOL</a:t>
            </a:r>
            <a:endParaRPr b="0" i="0" sz="1400" u="none" cap="none" strike="noStrike">
              <a:solidFill>
                <a:schemeClr val="accent3"/>
              </a:solidFill>
              <a:latin typeface="Manrope"/>
              <a:ea typeface="Manrope"/>
              <a:cs typeface="Manrope"/>
              <a:sym typeface="Manrope"/>
            </a:endParaRPr>
          </a:p>
        </p:txBody>
      </p:sp>
      <p:sp>
        <p:nvSpPr>
          <p:cNvPr id="126" name="Google Shape;126;g33917eb5ed2_0_15"/>
          <p:cNvSpPr txBox="1"/>
          <p:nvPr/>
        </p:nvSpPr>
        <p:spPr>
          <a:xfrm>
            <a:off x="1215196" y="4090275"/>
            <a:ext cx="55278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800"/>
              <a:buFont typeface="Arial"/>
              <a:buNone/>
            </a:pPr>
            <a:r>
              <a:rPr b="1" lang="es-ES" sz="5800">
                <a:solidFill>
                  <a:schemeClr val="dk1"/>
                </a:solidFill>
                <a:latin typeface="Manrope"/>
                <a:ea typeface="Manrope"/>
                <a:cs typeface="Manrope"/>
                <a:sym typeface="Manrope"/>
              </a:rPr>
              <a:t>Instrucciones</a:t>
            </a:r>
            <a:endParaRPr b="0" i="0" sz="1400" u="none" cap="none" strike="noStrike">
              <a:solidFill>
                <a:srgbClr val="000000"/>
              </a:solidFill>
              <a:latin typeface="Arial"/>
              <a:ea typeface="Arial"/>
              <a:cs typeface="Arial"/>
              <a:sym typeface="Arial"/>
            </a:endParaRPr>
          </a:p>
        </p:txBody>
      </p:sp>
      <p:sp>
        <p:nvSpPr>
          <p:cNvPr id="127" name="Google Shape;127;g33917eb5ed2_0_15"/>
          <p:cNvSpPr txBox="1"/>
          <p:nvPr/>
        </p:nvSpPr>
        <p:spPr>
          <a:xfrm>
            <a:off x="387550" y="354089"/>
            <a:ext cx="521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s-ES">
                <a:solidFill>
                  <a:schemeClr val="accent3"/>
                </a:solidFill>
                <a:latin typeface="Manrope"/>
                <a:ea typeface="Manrope"/>
                <a:cs typeface="Manrope"/>
                <a:sym typeface="Manrope"/>
              </a:rPr>
              <a:t>ENTREGABLE - CONTEXTO</a:t>
            </a:r>
            <a:endParaRPr b="0" i="0" sz="1400" u="none" cap="none" strike="noStrike">
              <a:solidFill>
                <a:schemeClr val="accent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g33917eb5ed2_0_23"/>
          <p:cNvPicPr preferRelativeResize="0"/>
          <p:nvPr/>
        </p:nvPicPr>
        <p:blipFill rotWithShape="1">
          <a:blip r:embed="rId3">
            <a:alphaModFix/>
          </a:blip>
          <a:srcRect b="39" l="0" r="0" t="49"/>
          <a:stretch/>
        </p:blipFill>
        <p:spPr>
          <a:xfrm>
            <a:off x="17624636" y="9674589"/>
            <a:ext cx="446681" cy="446681"/>
          </a:xfrm>
          <a:prstGeom prst="rect">
            <a:avLst/>
          </a:prstGeom>
          <a:noFill/>
          <a:ln>
            <a:noFill/>
          </a:ln>
        </p:spPr>
      </p:pic>
      <p:sp>
        <p:nvSpPr>
          <p:cNvPr id="133" name="Google Shape;133;g33917eb5ed2_0_23"/>
          <p:cNvSpPr txBox="1"/>
          <p:nvPr/>
        </p:nvSpPr>
        <p:spPr>
          <a:xfrm>
            <a:off x="14516700" y="350700"/>
            <a:ext cx="3378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0" i="0" lang="es-ES" sz="1400" u="none" cap="none" strike="noStrike">
                <a:solidFill>
                  <a:schemeClr val="accent3"/>
                </a:solidFill>
                <a:latin typeface="Manrope"/>
                <a:ea typeface="Manrope"/>
                <a:cs typeface="Manrope"/>
                <a:sym typeface="Manrope"/>
              </a:rPr>
              <a:t>NUCLIO DIGITAL SCHOOL</a:t>
            </a:r>
            <a:endParaRPr b="0" i="0" sz="1400" u="none" cap="none" strike="noStrike">
              <a:solidFill>
                <a:schemeClr val="accent3"/>
              </a:solidFill>
              <a:latin typeface="Manrope"/>
              <a:ea typeface="Manrope"/>
              <a:cs typeface="Manrope"/>
              <a:sym typeface="Manrope"/>
            </a:endParaRPr>
          </a:p>
        </p:txBody>
      </p:sp>
      <p:sp>
        <p:nvSpPr>
          <p:cNvPr id="134" name="Google Shape;134;g33917eb5ed2_0_23"/>
          <p:cNvSpPr txBox="1"/>
          <p:nvPr/>
        </p:nvSpPr>
        <p:spPr>
          <a:xfrm>
            <a:off x="2980076" y="1433925"/>
            <a:ext cx="11881800" cy="985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200"/>
              <a:buFont typeface="Arial"/>
              <a:buNone/>
            </a:pPr>
            <a:r>
              <a:rPr b="1" lang="es-ES" sz="5200">
                <a:solidFill>
                  <a:schemeClr val="dk1"/>
                </a:solidFill>
                <a:latin typeface="Manrope"/>
                <a:ea typeface="Manrope"/>
                <a:cs typeface="Manrope"/>
                <a:sym typeface="Manrope"/>
              </a:rPr>
              <a:t>Archivos entregados</a:t>
            </a:r>
            <a:endParaRPr b="0" i="0" sz="1400" u="none" cap="none" strike="noStrike">
              <a:solidFill>
                <a:srgbClr val="000000"/>
              </a:solidFill>
              <a:latin typeface="Arial"/>
              <a:ea typeface="Arial"/>
              <a:cs typeface="Arial"/>
              <a:sym typeface="Arial"/>
            </a:endParaRPr>
          </a:p>
        </p:txBody>
      </p:sp>
      <p:sp>
        <p:nvSpPr>
          <p:cNvPr id="135" name="Google Shape;135;g33917eb5ed2_0_23"/>
          <p:cNvSpPr txBox="1"/>
          <p:nvPr/>
        </p:nvSpPr>
        <p:spPr>
          <a:xfrm>
            <a:off x="387550" y="354089"/>
            <a:ext cx="521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s-ES">
                <a:solidFill>
                  <a:schemeClr val="accent3"/>
                </a:solidFill>
                <a:latin typeface="Manrope"/>
                <a:ea typeface="Manrope"/>
                <a:cs typeface="Manrope"/>
                <a:sym typeface="Manrope"/>
              </a:rPr>
              <a:t>ENTREGABLE - CONTEXTO</a:t>
            </a:r>
            <a:endParaRPr b="0" i="0" sz="1400" u="none" cap="none" strike="noStrike">
              <a:solidFill>
                <a:schemeClr val="accent3"/>
              </a:solidFill>
              <a:latin typeface="Arial"/>
              <a:ea typeface="Arial"/>
              <a:cs typeface="Arial"/>
              <a:sym typeface="Arial"/>
            </a:endParaRPr>
          </a:p>
        </p:txBody>
      </p:sp>
      <p:sp>
        <p:nvSpPr>
          <p:cNvPr id="136" name="Google Shape;136;g33917eb5ed2_0_23"/>
          <p:cNvSpPr txBox="1"/>
          <p:nvPr/>
        </p:nvSpPr>
        <p:spPr>
          <a:xfrm>
            <a:off x="6166825" y="3760875"/>
            <a:ext cx="8969400" cy="2539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ES" sz="1800">
                <a:solidFill>
                  <a:srgbClr val="14110F"/>
                </a:solidFill>
                <a:latin typeface="Manrope"/>
                <a:ea typeface="Manrope"/>
                <a:cs typeface="Manrope"/>
                <a:sym typeface="Manrope"/>
              </a:rPr>
              <a:t>Los archivos están cargados en la carpeta de recursos de la última sesión. </a:t>
            </a:r>
            <a:endParaRPr sz="1800">
              <a:solidFill>
                <a:srgbClr val="14110F"/>
              </a:solidFill>
              <a:latin typeface="Manrope"/>
              <a:ea typeface="Manrope"/>
              <a:cs typeface="Manrope"/>
              <a:sym typeface="Manrope"/>
            </a:endParaRPr>
          </a:p>
          <a:p>
            <a:pPr indent="0" lvl="0" marL="0" rtl="0" algn="l">
              <a:lnSpc>
                <a:spcPct val="150000"/>
              </a:lnSpc>
              <a:spcBef>
                <a:spcPts val="0"/>
              </a:spcBef>
              <a:spcAft>
                <a:spcPts val="0"/>
              </a:spcAft>
              <a:buNone/>
            </a:pPr>
            <a:r>
              <a:rPr lang="es-ES" sz="1800">
                <a:solidFill>
                  <a:srgbClr val="14110F"/>
                </a:solidFill>
                <a:latin typeface="Manrope"/>
                <a:ea typeface="Manrope"/>
                <a:cs typeface="Manrope"/>
                <a:sym typeface="Manrope"/>
              </a:rPr>
              <a:t>Encontrarás: </a:t>
            </a:r>
            <a:endParaRPr sz="1800">
              <a:solidFill>
                <a:srgbClr val="14110F"/>
              </a:solidFill>
              <a:latin typeface="Manrope"/>
              <a:ea typeface="Manrope"/>
              <a:cs typeface="Manrope"/>
              <a:sym typeface="Manrope"/>
            </a:endParaRPr>
          </a:p>
          <a:p>
            <a:pPr indent="-342900" lvl="1" marL="914400" rtl="0" algn="l">
              <a:lnSpc>
                <a:spcPct val="150000"/>
              </a:lnSpc>
              <a:spcBef>
                <a:spcPts val="0"/>
              </a:spcBef>
              <a:spcAft>
                <a:spcPts val="0"/>
              </a:spcAft>
              <a:buClr>
                <a:srgbClr val="14110F"/>
              </a:buClr>
              <a:buSzPts val="1800"/>
              <a:buFont typeface="Manrope"/>
              <a:buChar char="○"/>
            </a:pPr>
            <a:r>
              <a:rPr lang="es-ES" sz="1800">
                <a:solidFill>
                  <a:srgbClr val="14110F"/>
                </a:solidFill>
                <a:latin typeface="Manrope"/>
                <a:ea typeface="Manrope"/>
                <a:cs typeface="Manrope"/>
                <a:sym typeface="Manrope"/>
              </a:rPr>
              <a:t>un histórico de datos para entrenar </a:t>
            </a:r>
            <a:endParaRPr sz="1800">
              <a:solidFill>
                <a:srgbClr val="14110F"/>
              </a:solidFill>
              <a:latin typeface="Manrope"/>
              <a:ea typeface="Manrope"/>
              <a:cs typeface="Manrope"/>
              <a:sym typeface="Manrope"/>
            </a:endParaRPr>
          </a:p>
          <a:p>
            <a:pPr indent="-342900" lvl="1" marL="914400" rtl="0" algn="l">
              <a:lnSpc>
                <a:spcPct val="150000"/>
              </a:lnSpc>
              <a:spcBef>
                <a:spcPts val="0"/>
              </a:spcBef>
              <a:spcAft>
                <a:spcPts val="0"/>
              </a:spcAft>
              <a:buClr>
                <a:srgbClr val="14110F"/>
              </a:buClr>
              <a:buSzPts val="1800"/>
              <a:buFont typeface="Manrope"/>
              <a:buChar char="○"/>
            </a:pPr>
            <a:r>
              <a:rPr lang="es-ES" sz="1800">
                <a:solidFill>
                  <a:srgbClr val="14110F"/>
                </a:solidFill>
                <a:latin typeface="Manrope"/>
                <a:ea typeface="Manrope"/>
                <a:cs typeface="Manrope"/>
                <a:sym typeface="Manrope"/>
              </a:rPr>
              <a:t>un dataset a predecir con 1.500 observaciones</a:t>
            </a:r>
            <a:endParaRPr sz="1800">
              <a:solidFill>
                <a:srgbClr val="14110F"/>
              </a:solidFill>
              <a:latin typeface="Manrope"/>
              <a:ea typeface="Manrope"/>
              <a:cs typeface="Manrope"/>
              <a:sym typeface="Manrope"/>
            </a:endParaRPr>
          </a:p>
          <a:p>
            <a:pPr indent="-342900" lvl="1" marL="914400" rtl="0" algn="l">
              <a:lnSpc>
                <a:spcPct val="150000"/>
              </a:lnSpc>
              <a:spcBef>
                <a:spcPts val="0"/>
              </a:spcBef>
              <a:spcAft>
                <a:spcPts val="0"/>
              </a:spcAft>
              <a:buClr>
                <a:srgbClr val="14110F"/>
              </a:buClr>
              <a:buSzPts val="1800"/>
              <a:buFont typeface="Manrope"/>
              <a:buChar char="○"/>
            </a:pPr>
            <a:r>
              <a:rPr lang="es-ES" sz="1800">
                <a:solidFill>
                  <a:srgbClr val="14110F"/>
                </a:solidFill>
                <a:latin typeface="Manrope"/>
                <a:ea typeface="Manrope"/>
                <a:cs typeface="Manrope"/>
                <a:sym typeface="Manrope"/>
              </a:rPr>
              <a:t>un diccionario con la descripción de las variables del dataset.</a:t>
            </a:r>
            <a:endParaRPr sz="1800">
              <a:solidFill>
                <a:srgbClr val="14110F"/>
              </a:solidFill>
              <a:latin typeface="Manrope"/>
              <a:ea typeface="Manrope"/>
              <a:cs typeface="Manrope"/>
              <a:sym typeface="Manrope"/>
            </a:endParaRPr>
          </a:p>
          <a:p>
            <a:pPr indent="-342900" lvl="1" marL="914400" rtl="0" algn="l">
              <a:lnSpc>
                <a:spcPct val="150000"/>
              </a:lnSpc>
              <a:spcBef>
                <a:spcPts val="0"/>
              </a:spcBef>
              <a:spcAft>
                <a:spcPts val="0"/>
              </a:spcAft>
              <a:buClr>
                <a:srgbClr val="14110F"/>
              </a:buClr>
              <a:buSzPts val="1800"/>
              <a:buFont typeface="Manrope"/>
              <a:buChar char="○"/>
            </a:pPr>
            <a:r>
              <a:rPr lang="es-ES" sz="1800">
                <a:solidFill>
                  <a:srgbClr val="14110F"/>
                </a:solidFill>
                <a:latin typeface="Manrope"/>
                <a:ea typeface="Manrope"/>
                <a:cs typeface="Manrope"/>
                <a:sym typeface="Manrope"/>
              </a:rPr>
              <a:t>un notebook vacío con la trama a seguir</a:t>
            </a:r>
            <a:endParaRPr sz="1800">
              <a:solidFill>
                <a:srgbClr val="14110F"/>
              </a:solidFill>
              <a:latin typeface="Manrope"/>
              <a:ea typeface="Manrope"/>
              <a:cs typeface="Manrope"/>
              <a:sym typeface="Manrope"/>
            </a:endParaRPr>
          </a:p>
        </p:txBody>
      </p:sp>
      <p:pic>
        <p:nvPicPr>
          <p:cNvPr id="137" name="Google Shape;137;g33917eb5ed2_0_23"/>
          <p:cNvPicPr preferRelativeResize="0"/>
          <p:nvPr/>
        </p:nvPicPr>
        <p:blipFill>
          <a:blip r:embed="rId4">
            <a:alphaModFix/>
          </a:blip>
          <a:stretch>
            <a:fillRect/>
          </a:stretch>
        </p:blipFill>
        <p:spPr>
          <a:xfrm>
            <a:off x="1685750" y="3598962"/>
            <a:ext cx="2863599" cy="2863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g33917eb5ed2_0_34"/>
          <p:cNvPicPr preferRelativeResize="0"/>
          <p:nvPr/>
        </p:nvPicPr>
        <p:blipFill rotWithShape="1">
          <a:blip r:embed="rId3">
            <a:alphaModFix/>
          </a:blip>
          <a:srcRect b="39" l="0" r="0" t="49"/>
          <a:stretch/>
        </p:blipFill>
        <p:spPr>
          <a:xfrm>
            <a:off x="17624636" y="9674589"/>
            <a:ext cx="446681" cy="446681"/>
          </a:xfrm>
          <a:prstGeom prst="rect">
            <a:avLst/>
          </a:prstGeom>
          <a:noFill/>
          <a:ln>
            <a:noFill/>
          </a:ln>
        </p:spPr>
      </p:pic>
      <p:sp>
        <p:nvSpPr>
          <p:cNvPr id="143" name="Google Shape;143;g33917eb5ed2_0_34"/>
          <p:cNvSpPr txBox="1"/>
          <p:nvPr/>
        </p:nvSpPr>
        <p:spPr>
          <a:xfrm>
            <a:off x="14516700" y="350700"/>
            <a:ext cx="3378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0" i="0" lang="es-ES" sz="1400" u="none" cap="none" strike="noStrike">
                <a:solidFill>
                  <a:schemeClr val="accent3"/>
                </a:solidFill>
                <a:latin typeface="Manrope"/>
                <a:ea typeface="Manrope"/>
                <a:cs typeface="Manrope"/>
                <a:sym typeface="Manrope"/>
              </a:rPr>
              <a:t>NUCLIO DIGITAL SCHOOL</a:t>
            </a:r>
            <a:endParaRPr b="0" i="0" sz="1400" u="none" cap="none" strike="noStrike">
              <a:solidFill>
                <a:schemeClr val="accent3"/>
              </a:solidFill>
              <a:latin typeface="Manrope"/>
              <a:ea typeface="Manrope"/>
              <a:cs typeface="Manrope"/>
              <a:sym typeface="Manrope"/>
            </a:endParaRPr>
          </a:p>
        </p:txBody>
      </p:sp>
      <p:sp>
        <p:nvSpPr>
          <p:cNvPr id="144" name="Google Shape;144;g33917eb5ed2_0_34"/>
          <p:cNvSpPr txBox="1"/>
          <p:nvPr/>
        </p:nvSpPr>
        <p:spPr>
          <a:xfrm>
            <a:off x="2980076" y="1433925"/>
            <a:ext cx="11881800" cy="985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200"/>
              <a:buFont typeface="Arial"/>
              <a:buNone/>
            </a:pPr>
            <a:r>
              <a:rPr b="1" lang="es-ES" sz="5200">
                <a:solidFill>
                  <a:schemeClr val="dk1"/>
                </a:solidFill>
                <a:latin typeface="Manrope"/>
                <a:ea typeface="Manrope"/>
                <a:cs typeface="Manrope"/>
                <a:sym typeface="Manrope"/>
              </a:rPr>
              <a:t>Instrucciones de entrega</a:t>
            </a:r>
            <a:endParaRPr b="0" i="0" sz="1400" u="none" cap="none" strike="noStrike">
              <a:solidFill>
                <a:srgbClr val="000000"/>
              </a:solidFill>
              <a:latin typeface="Arial"/>
              <a:ea typeface="Arial"/>
              <a:cs typeface="Arial"/>
              <a:sym typeface="Arial"/>
            </a:endParaRPr>
          </a:p>
        </p:txBody>
      </p:sp>
      <p:sp>
        <p:nvSpPr>
          <p:cNvPr id="145" name="Google Shape;145;g33917eb5ed2_0_34"/>
          <p:cNvSpPr txBox="1"/>
          <p:nvPr/>
        </p:nvSpPr>
        <p:spPr>
          <a:xfrm>
            <a:off x="387550" y="354089"/>
            <a:ext cx="521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s-ES">
                <a:solidFill>
                  <a:schemeClr val="accent3"/>
                </a:solidFill>
                <a:latin typeface="Manrope"/>
                <a:ea typeface="Manrope"/>
                <a:cs typeface="Manrope"/>
                <a:sym typeface="Manrope"/>
              </a:rPr>
              <a:t>ENTREGABLE - CONTEXTO</a:t>
            </a:r>
            <a:endParaRPr b="0" i="0" sz="1400" u="none" cap="none" strike="noStrike">
              <a:solidFill>
                <a:schemeClr val="accent3"/>
              </a:solidFill>
              <a:latin typeface="Arial"/>
              <a:ea typeface="Arial"/>
              <a:cs typeface="Arial"/>
              <a:sym typeface="Arial"/>
            </a:endParaRPr>
          </a:p>
        </p:txBody>
      </p:sp>
      <p:sp>
        <p:nvSpPr>
          <p:cNvPr id="146" name="Google Shape;146;g33917eb5ed2_0_34"/>
          <p:cNvSpPr txBox="1"/>
          <p:nvPr/>
        </p:nvSpPr>
        <p:spPr>
          <a:xfrm>
            <a:off x="5400475" y="3221375"/>
            <a:ext cx="11309100" cy="54489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rgbClr val="14110F"/>
              </a:buClr>
              <a:buSzPts val="1800"/>
              <a:buFont typeface="Manrope"/>
              <a:buChar char="●"/>
            </a:pPr>
            <a:r>
              <a:rPr lang="es-ES" sz="1800">
                <a:solidFill>
                  <a:srgbClr val="14110F"/>
                </a:solidFill>
                <a:latin typeface="Manrope"/>
                <a:ea typeface="Manrope"/>
                <a:cs typeface="Manrope"/>
                <a:sym typeface="Manrope"/>
              </a:rPr>
              <a:t>T</a:t>
            </a:r>
            <a:r>
              <a:rPr lang="es-ES" sz="1800">
                <a:solidFill>
                  <a:srgbClr val="14110F"/>
                </a:solidFill>
                <a:latin typeface="Manrope"/>
                <a:ea typeface="Manrope"/>
                <a:cs typeface="Manrope"/>
                <a:sym typeface="Manrope"/>
              </a:rPr>
              <a:t>rabajar el ejercicio por equipos (del TFM o no)</a:t>
            </a:r>
            <a:endParaRPr sz="1800">
              <a:solidFill>
                <a:srgbClr val="14110F"/>
              </a:solidFill>
              <a:latin typeface="Manrope"/>
              <a:ea typeface="Manrope"/>
              <a:cs typeface="Manrope"/>
              <a:sym typeface="Manrope"/>
            </a:endParaRPr>
          </a:p>
          <a:p>
            <a:pPr indent="-342900" lvl="0" marL="457200" rtl="0" algn="l">
              <a:lnSpc>
                <a:spcPct val="150000"/>
              </a:lnSpc>
              <a:spcBef>
                <a:spcPts val="0"/>
              </a:spcBef>
              <a:spcAft>
                <a:spcPts val="0"/>
              </a:spcAft>
              <a:buClr>
                <a:srgbClr val="14110F"/>
              </a:buClr>
              <a:buSzPts val="1800"/>
              <a:buFont typeface="Manrope"/>
              <a:buChar char="●"/>
            </a:pPr>
            <a:r>
              <a:rPr lang="es-ES" sz="1800">
                <a:solidFill>
                  <a:srgbClr val="14110F"/>
                </a:solidFill>
                <a:latin typeface="Manrope"/>
                <a:ea typeface="Manrope"/>
                <a:cs typeface="Manrope"/>
                <a:sym typeface="Manrope"/>
              </a:rPr>
              <a:t>Crear una carpeta de trabajo en Colab titulada “DSC{nº edicion} – Entregable 2 - {1ºApellido de cada miembro}”  (darme permiso de acceso: mateodebrab@gmail.com)</a:t>
            </a:r>
            <a:endParaRPr sz="1800">
              <a:solidFill>
                <a:srgbClr val="14110F"/>
              </a:solidFill>
              <a:latin typeface="Manrope"/>
              <a:ea typeface="Manrope"/>
              <a:cs typeface="Manrope"/>
              <a:sym typeface="Manrope"/>
            </a:endParaRPr>
          </a:p>
          <a:p>
            <a:pPr indent="-342900" lvl="0" marL="457200" rtl="0" algn="l">
              <a:lnSpc>
                <a:spcPct val="150000"/>
              </a:lnSpc>
              <a:spcBef>
                <a:spcPts val="0"/>
              </a:spcBef>
              <a:spcAft>
                <a:spcPts val="0"/>
              </a:spcAft>
              <a:buClr>
                <a:srgbClr val="14110F"/>
              </a:buClr>
              <a:buSzPts val="1800"/>
              <a:buFont typeface="Manrope"/>
              <a:buChar char="●"/>
            </a:pPr>
            <a:r>
              <a:rPr lang="es-ES" sz="1800">
                <a:solidFill>
                  <a:srgbClr val="14110F"/>
                </a:solidFill>
                <a:latin typeface="Manrope"/>
                <a:ea typeface="Manrope"/>
                <a:cs typeface="Manrope"/>
                <a:sym typeface="Manrope"/>
              </a:rPr>
              <a:t>Guardar el notebook ejecutado con los outputs de las celdas visibles . </a:t>
            </a:r>
            <a:endParaRPr sz="1800">
              <a:solidFill>
                <a:srgbClr val="14110F"/>
              </a:solidFill>
              <a:latin typeface="Manrope"/>
              <a:ea typeface="Manrope"/>
              <a:cs typeface="Manrope"/>
              <a:sym typeface="Manrope"/>
            </a:endParaRPr>
          </a:p>
          <a:p>
            <a:pPr indent="-342900" lvl="0" marL="457200" rtl="0" algn="l">
              <a:lnSpc>
                <a:spcPct val="150000"/>
              </a:lnSpc>
              <a:spcBef>
                <a:spcPts val="0"/>
              </a:spcBef>
              <a:spcAft>
                <a:spcPts val="0"/>
              </a:spcAft>
              <a:buClr>
                <a:srgbClr val="14110F"/>
              </a:buClr>
              <a:buSzPts val="1800"/>
              <a:buFont typeface="Manrope"/>
              <a:buChar char="●"/>
            </a:pPr>
            <a:r>
              <a:rPr lang="es-ES" sz="1800">
                <a:solidFill>
                  <a:srgbClr val="14110F"/>
                </a:solidFill>
                <a:latin typeface="Manrope"/>
                <a:ea typeface="Manrope"/>
                <a:cs typeface="Manrope"/>
                <a:sym typeface="Manrope"/>
              </a:rPr>
              <a:t>Dejar un log de las transformaciones que aplicamos en el dataset. Ejemplo: print(“Se han eliminado las siguientes columnas: …”) </a:t>
            </a:r>
            <a:endParaRPr sz="1800">
              <a:solidFill>
                <a:srgbClr val="14110F"/>
              </a:solidFill>
              <a:latin typeface="Manrope"/>
              <a:ea typeface="Manrope"/>
              <a:cs typeface="Manrope"/>
              <a:sym typeface="Manrope"/>
            </a:endParaRPr>
          </a:p>
          <a:p>
            <a:pPr indent="-342900" lvl="0" marL="457200" rtl="0" algn="l">
              <a:lnSpc>
                <a:spcPct val="150000"/>
              </a:lnSpc>
              <a:spcBef>
                <a:spcPts val="0"/>
              </a:spcBef>
              <a:spcAft>
                <a:spcPts val="0"/>
              </a:spcAft>
              <a:buClr>
                <a:srgbClr val="14110F"/>
              </a:buClr>
              <a:buSzPts val="1800"/>
              <a:buFont typeface="Manrope"/>
              <a:buChar char="●"/>
            </a:pPr>
            <a:r>
              <a:rPr lang="es-ES" sz="1800">
                <a:solidFill>
                  <a:srgbClr val="14110F"/>
                </a:solidFill>
                <a:latin typeface="Manrope"/>
                <a:ea typeface="Manrope"/>
                <a:cs typeface="Manrope"/>
                <a:sym typeface="Manrope"/>
              </a:rPr>
              <a:t>Escribir un código limpio que se pueda ejecutar al completo sin errores dándole al botón “Ejecutar todas las celdas”. </a:t>
            </a:r>
            <a:endParaRPr sz="1800">
              <a:solidFill>
                <a:srgbClr val="14110F"/>
              </a:solidFill>
              <a:latin typeface="Manrope"/>
              <a:ea typeface="Manrope"/>
              <a:cs typeface="Manrope"/>
              <a:sym typeface="Manrope"/>
            </a:endParaRPr>
          </a:p>
          <a:p>
            <a:pPr indent="-342900" lvl="0" marL="457200" rtl="0" algn="l">
              <a:lnSpc>
                <a:spcPct val="150000"/>
              </a:lnSpc>
              <a:spcBef>
                <a:spcPts val="0"/>
              </a:spcBef>
              <a:spcAft>
                <a:spcPts val="0"/>
              </a:spcAft>
              <a:buClr>
                <a:srgbClr val="14110F"/>
              </a:buClr>
              <a:buSzPts val="1800"/>
              <a:buFont typeface="Manrope"/>
              <a:buChar char="●"/>
            </a:pPr>
            <a:r>
              <a:rPr lang="es-ES" sz="1800">
                <a:solidFill>
                  <a:srgbClr val="14110F"/>
                </a:solidFill>
                <a:latin typeface="Manrope"/>
                <a:ea typeface="Manrope"/>
                <a:cs typeface="Manrope"/>
                <a:sym typeface="Manrope"/>
              </a:rPr>
              <a:t>Entregar por Slack un csv con las 1.500 predicciones con el nombre correcto de las columnas, en minúscula.</a:t>
            </a:r>
            <a:endParaRPr sz="1800">
              <a:solidFill>
                <a:srgbClr val="14110F"/>
              </a:solidFill>
              <a:latin typeface="Manrope"/>
              <a:ea typeface="Manrope"/>
              <a:cs typeface="Manrope"/>
              <a:sym typeface="Manrope"/>
            </a:endParaRPr>
          </a:p>
          <a:p>
            <a:pPr indent="-342900" lvl="0" marL="457200" rtl="0" algn="l">
              <a:lnSpc>
                <a:spcPct val="150000"/>
              </a:lnSpc>
              <a:spcBef>
                <a:spcPts val="0"/>
              </a:spcBef>
              <a:spcAft>
                <a:spcPts val="0"/>
              </a:spcAft>
              <a:buClr>
                <a:srgbClr val="14110F"/>
              </a:buClr>
              <a:buSzPts val="1800"/>
              <a:buFont typeface="Manrope"/>
              <a:buChar char="●"/>
            </a:pPr>
            <a:r>
              <a:rPr lang="es-ES" sz="1800">
                <a:solidFill>
                  <a:srgbClr val="14110F"/>
                </a:solidFill>
                <a:latin typeface="Manrope"/>
                <a:ea typeface="Manrope"/>
                <a:cs typeface="Manrope"/>
                <a:sym typeface="Manrope"/>
              </a:rPr>
              <a:t>Confirmar Nombre y Apellido de los participantes por Slack </a:t>
            </a:r>
            <a:endParaRPr sz="1800">
              <a:solidFill>
                <a:srgbClr val="14110F"/>
              </a:solidFill>
              <a:latin typeface="Manrope"/>
              <a:ea typeface="Manrope"/>
              <a:cs typeface="Manrope"/>
              <a:sym typeface="Manrope"/>
            </a:endParaRPr>
          </a:p>
          <a:p>
            <a:pPr indent="-342900" lvl="0" marL="457200" rtl="0" algn="l">
              <a:lnSpc>
                <a:spcPct val="150000"/>
              </a:lnSpc>
              <a:spcBef>
                <a:spcPts val="0"/>
              </a:spcBef>
              <a:spcAft>
                <a:spcPts val="0"/>
              </a:spcAft>
              <a:buClr>
                <a:srgbClr val="14110F"/>
              </a:buClr>
              <a:buSzPts val="1800"/>
              <a:buFont typeface="Manrope"/>
              <a:buChar char="●"/>
            </a:pPr>
            <a:r>
              <a:rPr lang="es-ES" sz="1800">
                <a:solidFill>
                  <a:srgbClr val="14110F"/>
                </a:solidFill>
                <a:latin typeface="Manrope"/>
                <a:ea typeface="Manrope"/>
                <a:cs typeface="Manrope"/>
                <a:sym typeface="Manrope"/>
              </a:rPr>
              <a:t>Subir igualmente en entregable a Nuclio</a:t>
            </a:r>
            <a:endParaRPr sz="1800">
              <a:solidFill>
                <a:srgbClr val="14110F"/>
              </a:solidFill>
              <a:latin typeface="Manrope"/>
              <a:ea typeface="Manrope"/>
              <a:cs typeface="Manrope"/>
              <a:sym typeface="Manrope"/>
            </a:endParaRPr>
          </a:p>
          <a:p>
            <a:pPr indent="-342900" lvl="0" marL="457200" rtl="0" algn="l">
              <a:lnSpc>
                <a:spcPct val="150000"/>
              </a:lnSpc>
              <a:spcBef>
                <a:spcPts val="0"/>
              </a:spcBef>
              <a:spcAft>
                <a:spcPts val="0"/>
              </a:spcAft>
              <a:buClr>
                <a:srgbClr val="14110F"/>
              </a:buClr>
              <a:buSzPts val="1800"/>
              <a:buFont typeface="Manrope"/>
              <a:buChar char="●"/>
            </a:pPr>
            <a:r>
              <a:rPr lang="es-ES" sz="1800">
                <a:solidFill>
                  <a:srgbClr val="14110F"/>
                </a:solidFill>
                <a:latin typeface="Manrope"/>
                <a:ea typeface="Manrope"/>
                <a:cs typeface="Manrope"/>
                <a:sym typeface="Manrope"/>
              </a:rPr>
              <a:t>Se evaluará las predicciones sobre el F1_SCORE</a:t>
            </a:r>
            <a:endParaRPr sz="1800">
              <a:solidFill>
                <a:srgbClr val="14110F"/>
              </a:solidFill>
              <a:latin typeface="Manrope"/>
              <a:ea typeface="Manrope"/>
              <a:cs typeface="Manrope"/>
              <a:sym typeface="Manrope"/>
            </a:endParaRPr>
          </a:p>
        </p:txBody>
      </p:sp>
      <p:pic>
        <p:nvPicPr>
          <p:cNvPr id="147" name="Google Shape;147;g33917eb5ed2_0_34"/>
          <p:cNvPicPr preferRelativeResize="0"/>
          <p:nvPr/>
        </p:nvPicPr>
        <p:blipFill>
          <a:blip r:embed="rId4">
            <a:alphaModFix/>
          </a:blip>
          <a:stretch>
            <a:fillRect/>
          </a:stretch>
        </p:blipFill>
        <p:spPr>
          <a:xfrm>
            <a:off x="1685750" y="3598974"/>
            <a:ext cx="2863599" cy="28635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g33917eb5ed2_0_46"/>
          <p:cNvPicPr preferRelativeResize="0"/>
          <p:nvPr/>
        </p:nvPicPr>
        <p:blipFill rotWithShape="1">
          <a:blip r:embed="rId3">
            <a:alphaModFix/>
          </a:blip>
          <a:srcRect b="39" l="0" r="0" t="49"/>
          <a:stretch/>
        </p:blipFill>
        <p:spPr>
          <a:xfrm>
            <a:off x="17624636" y="9674589"/>
            <a:ext cx="446681" cy="446681"/>
          </a:xfrm>
          <a:prstGeom prst="rect">
            <a:avLst/>
          </a:prstGeom>
          <a:noFill/>
          <a:ln>
            <a:noFill/>
          </a:ln>
        </p:spPr>
      </p:pic>
      <p:sp>
        <p:nvSpPr>
          <p:cNvPr id="153" name="Google Shape;153;g33917eb5ed2_0_46"/>
          <p:cNvSpPr txBox="1"/>
          <p:nvPr/>
        </p:nvSpPr>
        <p:spPr>
          <a:xfrm>
            <a:off x="14516700" y="350700"/>
            <a:ext cx="3378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0" i="0" lang="es-ES" sz="1400" u="none" cap="none" strike="noStrike">
                <a:solidFill>
                  <a:schemeClr val="accent3"/>
                </a:solidFill>
                <a:latin typeface="Manrope"/>
                <a:ea typeface="Manrope"/>
                <a:cs typeface="Manrope"/>
                <a:sym typeface="Manrope"/>
              </a:rPr>
              <a:t>NUCLIO DIGITAL SCHOOL</a:t>
            </a:r>
            <a:endParaRPr b="0" i="0" sz="1400" u="none" cap="none" strike="noStrike">
              <a:solidFill>
                <a:schemeClr val="accent3"/>
              </a:solidFill>
              <a:latin typeface="Manrope"/>
              <a:ea typeface="Manrope"/>
              <a:cs typeface="Manrope"/>
              <a:sym typeface="Manrope"/>
            </a:endParaRPr>
          </a:p>
        </p:txBody>
      </p:sp>
      <p:sp>
        <p:nvSpPr>
          <p:cNvPr id="154" name="Google Shape;154;g33917eb5ed2_0_46"/>
          <p:cNvSpPr txBox="1"/>
          <p:nvPr/>
        </p:nvSpPr>
        <p:spPr>
          <a:xfrm>
            <a:off x="2980076" y="1433925"/>
            <a:ext cx="11881800" cy="985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200"/>
              <a:buFont typeface="Arial"/>
              <a:buNone/>
            </a:pPr>
            <a:r>
              <a:rPr b="1" lang="es-ES" sz="5200">
                <a:solidFill>
                  <a:schemeClr val="dk1"/>
                </a:solidFill>
                <a:latin typeface="Manrope"/>
                <a:ea typeface="Manrope"/>
                <a:cs typeface="Manrope"/>
                <a:sym typeface="Manrope"/>
              </a:rPr>
              <a:t>Criterios de evaluación</a:t>
            </a:r>
            <a:endParaRPr b="0" i="0" sz="1400" u="none" cap="none" strike="noStrike">
              <a:solidFill>
                <a:srgbClr val="000000"/>
              </a:solidFill>
              <a:latin typeface="Arial"/>
              <a:ea typeface="Arial"/>
              <a:cs typeface="Arial"/>
              <a:sym typeface="Arial"/>
            </a:endParaRPr>
          </a:p>
        </p:txBody>
      </p:sp>
      <p:sp>
        <p:nvSpPr>
          <p:cNvPr id="155" name="Google Shape;155;g33917eb5ed2_0_46"/>
          <p:cNvSpPr txBox="1"/>
          <p:nvPr/>
        </p:nvSpPr>
        <p:spPr>
          <a:xfrm>
            <a:off x="387550" y="354089"/>
            <a:ext cx="521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s-ES">
                <a:solidFill>
                  <a:schemeClr val="accent3"/>
                </a:solidFill>
                <a:latin typeface="Manrope"/>
                <a:ea typeface="Manrope"/>
                <a:cs typeface="Manrope"/>
                <a:sym typeface="Manrope"/>
              </a:rPr>
              <a:t>ENTREGABLE - CONTEXTO</a:t>
            </a:r>
            <a:endParaRPr b="0" i="0" sz="1400" u="none" cap="none" strike="noStrike">
              <a:solidFill>
                <a:schemeClr val="accent3"/>
              </a:solidFill>
              <a:latin typeface="Arial"/>
              <a:ea typeface="Arial"/>
              <a:cs typeface="Arial"/>
              <a:sym typeface="Arial"/>
            </a:endParaRPr>
          </a:p>
        </p:txBody>
      </p:sp>
      <p:graphicFrame>
        <p:nvGraphicFramePr>
          <p:cNvPr id="156" name="Google Shape;156;g33917eb5ed2_0_46"/>
          <p:cNvGraphicFramePr/>
          <p:nvPr/>
        </p:nvGraphicFramePr>
        <p:xfrm>
          <a:off x="1405925" y="2488950"/>
          <a:ext cx="3000000" cy="3000000"/>
        </p:xfrm>
        <a:graphic>
          <a:graphicData uri="http://schemas.openxmlformats.org/drawingml/2006/table">
            <a:tbl>
              <a:tblPr>
                <a:noFill/>
                <a:tableStyleId>{756CF99B-669E-4466-A7FA-FB5B28C4DB00}</a:tableStyleId>
              </a:tblPr>
              <a:tblGrid>
                <a:gridCol w="1720925"/>
                <a:gridCol w="3833600"/>
                <a:gridCol w="1021350"/>
                <a:gridCol w="8576650"/>
              </a:tblGrid>
              <a:tr h="218550">
                <a:tc>
                  <a:txBody>
                    <a:bodyPr/>
                    <a:lstStyle/>
                    <a:p>
                      <a:pPr indent="0" lvl="0" marL="0" rtl="0" algn="l">
                        <a:spcBef>
                          <a:spcPts val="0"/>
                        </a:spcBef>
                        <a:spcAft>
                          <a:spcPts val="0"/>
                        </a:spcAft>
                        <a:buNone/>
                      </a:pPr>
                      <a:r>
                        <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s-ES" sz="1200">
                          <a:solidFill>
                            <a:srgbClr val="FFFFFF"/>
                          </a:solidFill>
                        </a:rPr>
                        <a:t>PROCESOS</a:t>
                      </a:r>
                      <a:endParaRPr b="1" sz="1200">
                        <a:solidFill>
                          <a:srgbClr val="FFFFFF"/>
                        </a:solidFill>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434343"/>
                    </a:solidFill>
                  </a:tcPr>
                </a:tc>
                <a:tc>
                  <a:txBody>
                    <a:bodyPr/>
                    <a:lstStyle/>
                    <a:p>
                      <a:pPr indent="0" lvl="0" marL="0" rtl="0" algn="ctr">
                        <a:lnSpc>
                          <a:spcPct val="115000"/>
                        </a:lnSpc>
                        <a:spcBef>
                          <a:spcPts val="0"/>
                        </a:spcBef>
                        <a:spcAft>
                          <a:spcPts val="0"/>
                        </a:spcAft>
                        <a:buNone/>
                      </a:pPr>
                      <a:r>
                        <a:rPr b="1" lang="es-ES" sz="1200">
                          <a:solidFill>
                            <a:srgbClr val="FFFFFF"/>
                          </a:solidFill>
                        </a:rPr>
                        <a:t>PUNTOS</a:t>
                      </a:r>
                      <a:endParaRPr b="1" sz="1200">
                        <a:solidFill>
                          <a:srgbClr val="FFFFFF"/>
                        </a:solidFill>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434343"/>
                    </a:solidFill>
                  </a:tcPr>
                </a:tc>
                <a:tc>
                  <a:txBody>
                    <a:bodyPr/>
                    <a:lstStyle/>
                    <a:p>
                      <a:pPr indent="0" lvl="0" marL="0" rtl="0" algn="ctr">
                        <a:lnSpc>
                          <a:spcPct val="115000"/>
                        </a:lnSpc>
                        <a:spcBef>
                          <a:spcPts val="0"/>
                        </a:spcBef>
                        <a:spcAft>
                          <a:spcPts val="0"/>
                        </a:spcAft>
                        <a:buNone/>
                      </a:pPr>
                      <a:r>
                        <a:rPr b="1" lang="es-ES" sz="1200">
                          <a:solidFill>
                            <a:srgbClr val="FFFFFF"/>
                          </a:solidFill>
                        </a:rPr>
                        <a:t>COMO SACAR UN 10</a:t>
                      </a:r>
                      <a:endParaRPr b="1" sz="1200">
                        <a:solidFill>
                          <a:srgbClr val="FFFFFF"/>
                        </a:solidFill>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434343"/>
                    </a:solidFill>
                  </a:tcPr>
                </a:tc>
              </a:tr>
              <a:tr h="248375">
                <a:tc rowSpan="4">
                  <a:txBody>
                    <a:bodyPr/>
                    <a:lstStyle/>
                    <a:p>
                      <a:pPr indent="0" lvl="0" marL="0" rtl="0" algn="ctr">
                        <a:lnSpc>
                          <a:spcPct val="115000"/>
                        </a:lnSpc>
                        <a:spcBef>
                          <a:spcPts val="0"/>
                        </a:spcBef>
                        <a:spcAft>
                          <a:spcPts val="0"/>
                        </a:spcAft>
                        <a:buNone/>
                      </a:pPr>
                      <a:r>
                        <a:rPr lang="es-ES"/>
                        <a:t>Preprocessing</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Data Cleaning y EDA</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0,5</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a:t>Analizo la distribución de las variables</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r>
              <a:tr h="248375">
                <a:tc vMerge="1"/>
                <a:tc>
                  <a:txBody>
                    <a:bodyPr/>
                    <a:lstStyle/>
                    <a:p>
                      <a:pPr indent="0" lvl="0" marL="0" rtl="0" algn="ctr">
                        <a:lnSpc>
                          <a:spcPct val="115000"/>
                        </a:lnSpc>
                        <a:spcBef>
                          <a:spcPts val="0"/>
                        </a:spcBef>
                        <a:spcAft>
                          <a:spcPts val="0"/>
                        </a:spcAft>
                        <a:buNone/>
                      </a:pPr>
                      <a:r>
                        <a:rPr lang="es-ES"/>
                        <a:t>Tratamiento de nulos</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1</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a:t>Trato de forma coherente los nulos del data set a entrenar y dataset a predecir</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r>
              <a:tr h="248375">
                <a:tc vMerge="1"/>
                <a:tc>
                  <a:txBody>
                    <a:bodyPr/>
                    <a:lstStyle/>
                    <a:p>
                      <a:pPr indent="0" lvl="0" marL="0" rtl="0" algn="ctr">
                        <a:lnSpc>
                          <a:spcPct val="115000"/>
                        </a:lnSpc>
                        <a:spcBef>
                          <a:spcPts val="0"/>
                        </a:spcBef>
                        <a:spcAft>
                          <a:spcPts val="0"/>
                        </a:spcAft>
                        <a:buNone/>
                      </a:pPr>
                      <a:r>
                        <a:rPr lang="es-ES"/>
                        <a:t>Tratamiento de variables categóricas</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1</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a:t>Trato de forma óptima las variables categóricas</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r>
              <a:tr h="248375">
                <a:tc vMerge="1"/>
                <a:tc>
                  <a:txBody>
                    <a:bodyPr/>
                    <a:lstStyle/>
                    <a:p>
                      <a:pPr indent="0" lvl="0" marL="0" rtl="0" algn="ctr">
                        <a:lnSpc>
                          <a:spcPct val="115000"/>
                        </a:lnSpc>
                        <a:spcBef>
                          <a:spcPts val="0"/>
                        </a:spcBef>
                        <a:spcAft>
                          <a:spcPts val="0"/>
                        </a:spcAft>
                        <a:buNone/>
                      </a:pPr>
                      <a:r>
                        <a:rPr lang="es-ES"/>
                        <a:t>Alta correlacion y baja varianza</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0,5</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a:t>Elimino variables altamente correlacionadas y de mínima varianza</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r>
              <a:tr h="248375">
                <a:tc rowSpan="4">
                  <a:txBody>
                    <a:bodyPr/>
                    <a:lstStyle/>
                    <a:p>
                      <a:pPr indent="0" lvl="0" marL="0" rtl="0" algn="ctr">
                        <a:lnSpc>
                          <a:spcPct val="115000"/>
                        </a:lnSpc>
                        <a:spcBef>
                          <a:spcPts val="0"/>
                        </a:spcBef>
                        <a:spcAft>
                          <a:spcPts val="0"/>
                        </a:spcAft>
                        <a:buNone/>
                      </a:pPr>
                      <a:r>
                        <a:rPr lang="es-ES"/>
                        <a:t>Modelo</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Rebalanceo</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0,5</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a:t>Pruebo rebalancear el train</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r>
              <a:tr h="248375">
                <a:tc vMerge="1"/>
                <a:tc>
                  <a:txBody>
                    <a:bodyPr/>
                    <a:lstStyle/>
                    <a:p>
                      <a:pPr indent="0" lvl="0" marL="0" rtl="0" algn="ctr">
                        <a:lnSpc>
                          <a:spcPct val="115000"/>
                        </a:lnSpc>
                        <a:spcBef>
                          <a:spcPts val="0"/>
                        </a:spcBef>
                        <a:spcAft>
                          <a:spcPts val="0"/>
                        </a:spcAft>
                        <a:buNone/>
                      </a:pPr>
                      <a:r>
                        <a:rPr lang="es-ES"/>
                        <a:t>Estandarización</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0,5</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a:t>Estandarizo los datasets correctamente para la competición</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r>
              <a:tr h="463625">
                <a:tc vMerge="1"/>
                <a:tc>
                  <a:txBody>
                    <a:bodyPr/>
                    <a:lstStyle/>
                    <a:p>
                      <a:pPr indent="0" lvl="0" marL="0" rtl="0" algn="ctr">
                        <a:lnSpc>
                          <a:spcPct val="115000"/>
                        </a:lnSpc>
                        <a:spcBef>
                          <a:spcPts val="0"/>
                        </a:spcBef>
                        <a:spcAft>
                          <a:spcPts val="0"/>
                        </a:spcAft>
                        <a:buNone/>
                      </a:pPr>
                      <a:r>
                        <a:rPr lang="es-ES"/>
                        <a:t>Competición de modelos</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0,5</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a:t>Realizo una competición de modelo con mínimo 2 modelos lineales y 2 modelos de reglas (árboles de decisión) sobre la métrica pedida (f1_score)</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r>
              <a:tr h="463625">
                <a:tc vMerge="1"/>
                <a:tc>
                  <a:txBody>
                    <a:bodyPr/>
                    <a:lstStyle/>
                    <a:p>
                      <a:pPr indent="0" lvl="0" marL="0" rtl="0" algn="ctr">
                        <a:lnSpc>
                          <a:spcPct val="115000"/>
                        </a:lnSpc>
                        <a:spcBef>
                          <a:spcPts val="0"/>
                        </a:spcBef>
                        <a:spcAft>
                          <a:spcPts val="0"/>
                        </a:spcAft>
                        <a:buNone/>
                      </a:pPr>
                      <a:r>
                        <a:rPr lang="es-ES"/>
                        <a:t>Hiperparametrizacion</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0,5</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a:t>Parametrizo el modelo ganador de la competición (se valora el código, no si consigue mejorar los parametros por defecto del modelo)</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r>
              <a:tr h="463625">
                <a:tc>
                  <a:txBody>
                    <a:bodyPr/>
                    <a:lstStyle/>
                    <a:p>
                      <a:pPr indent="0" lvl="0" marL="0" rtl="0" algn="ctr">
                        <a:lnSpc>
                          <a:spcPct val="115000"/>
                        </a:lnSpc>
                        <a:spcBef>
                          <a:spcPts val="0"/>
                        </a:spcBef>
                        <a:spcAft>
                          <a:spcPts val="0"/>
                        </a:spcAft>
                        <a:buNone/>
                      </a:pPr>
                      <a:r>
                        <a:rPr lang="es-ES"/>
                        <a:t>Evaluación</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Evaluación</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0,5</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a:t>Evaluo las métricas en el dataset de test, siendo el dataset de test lo más parecido al dataset original posible</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r>
              <a:tr h="678850">
                <a:tc>
                  <a:txBody>
                    <a:bodyPr/>
                    <a:lstStyle/>
                    <a:p>
                      <a:pPr indent="0" lvl="0" marL="0" rtl="0" algn="ctr">
                        <a:lnSpc>
                          <a:spcPct val="115000"/>
                        </a:lnSpc>
                        <a:spcBef>
                          <a:spcPts val="0"/>
                        </a:spcBef>
                        <a:spcAft>
                          <a:spcPts val="0"/>
                        </a:spcAft>
                        <a:buNone/>
                      </a:pPr>
                      <a:r>
                        <a:rPr lang="es-ES"/>
                        <a:t>Interpretabilidad</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Interpretabilidad</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1</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a:t>Gráfico las variables más importantes y en qué sentido</a:t>
                      </a:r>
                      <a:endParaRPr/>
                    </a:p>
                    <a:p>
                      <a:pPr indent="0" lvl="0" marL="0" rtl="0" algn="l">
                        <a:lnSpc>
                          <a:spcPct val="115000"/>
                        </a:lnSpc>
                        <a:spcBef>
                          <a:spcPts val="0"/>
                        </a:spcBef>
                        <a:spcAft>
                          <a:spcPts val="0"/>
                        </a:spcAft>
                        <a:buNone/>
                      </a:pPr>
                      <a:r>
                        <a:rPr lang="es-ES"/>
                        <a:t>Saco los coeficientes de un modelo lineal</a:t>
                      </a:r>
                      <a:endParaRPr/>
                    </a:p>
                    <a:p>
                      <a:pPr indent="0" lvl="0" marL="0" rtl="0" algn="l">
                        <a:lnSpc>
                          <a:spcPct val="115000"/>
                        </a:lnSpc>
                        <a:spcBef>
                          <a:spcPts val="0"/>
                        </a:spcBef>
                        <a:spcAft>
                          <a:spcPts val="0"/>
                        </a:spcAft>
                        <a:buNone/>
                      </a:pPr>
                      <a:r>
                        <a:rPr lang="es-ES"/>
                        <a:t>Comento en una celda de texto el impacto positivo/negativo de las top 5 features en el churn.</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r>
              <a:tr h="463625">
                <a:tc rowSpan="2">
                  <a:txBody>
                    <a:bodyPr/>
                    <a:lstStyle/>
                    <a:p>
                      <a:pPr indent="0" lvl="0" marL="0" rtl="0" algn="ctr">
                        <a:lnSpc>
                          <a:spcPct val="115000"/>
                        </a:lnSpc>
                        <a:spcBef>
                          <a:spcPts val="0"/>
                        </a:spcBef>
                        <a:spcAft>
                          <a:spcPts val="0"/>
                        </a:spcAft>
                        <a:buNone/>
                      </a:pPr>
                      <a:r>
                        <a:rPr lang="es-ES"/>
                        <a:t>Predicción</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Datacleaning</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0,5</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a:t>Garantizo que se hace la predicción sobre un dataset en las mismas condiciones que el dataset usado para entrenar</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r>
              <a:tr h="1539850">
                <a:tc vMerge="1"/>
                <a:tc>
                  <a:txBody>
                    <a:bodyPr/>
                    <a:lstStyle/>
                    <a:p>
                      <a:pPr indent="0" lvl="0" marL="0" rtl="0" algn="ctr">
                        <a:lnSpc>
                          <a:spcPct val="115000"/>
                        </a:lnSpc>
                        <a:spcBef>
                          <a:spcPts val="0"/>
                        </a:spcBef>
                        <a:spcAft>
                          <a:spcPts val="0"/>
                        </a:spcAft>
                        <a:buNone/>
                      </a:pPr>
                      <a:r>
                        <a:rPr lang="es-ES"/>
                        <a:t>Predicción</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3</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a:t>Entrego un predicción para las 1.500 observaciones en un csv con el nombre correcto de las variables (0 puntos en caso contrario)</a:t>
                      </a:r>
                      <a:endParaRPr/>
                    </a:p>
                    <a:p>
                      <a:pPr indent="0" lvl="0" marL="0" rtl="0" algn="l">
                        <a:lnSpc>
                          <a:spcPct val="115000"/>
                        </a:lnSpc>
                        <a:spcBef>
                          <a:spcPts val="0"/>
                        </a:spcBef>
                        <a:spcAft>
                          <a:spcPts val="0"/>
                        </a:spcAft>
                        <a:buNone/>
                      </a:pPr>
                      <a:r>
                        <a:rPr lang="es-ES"/>
                        <a:t>Nota según </a:t>
                      </a:r>
                      <a:r>
                        <a:rPr b="1" lang="es-ES"/>
                        <a:t>F</a:t>
                      </a:r>
                      <a:r>
                        <a:rPr b="1" lang="es-ES"/>
                        <a:t>1_SCORE</a:t>
                      </a:r>
                      <a:r>
                        <a:rPr lang="es-ES"/>
                        <a:t>:</a:t>
                      </a:r>
                      <a:endParaRPr/>
                    </a:p>
                    <a:p>
                      <a:pPr indent="0" lvl="0" marL="0" rtl="0" algn="l">
                        <a:lnSpc>
                          <a:spcPct val="115000"/>
                        </a:lnSpc>
                        <a:spcBef>
                          <a:spcPts val="0"/>
                        </a:spcBef>
                        <a:spcAft>
                          <a:spcPts val="0"/>
                        </a:spcAft>
                        <a:buNone/>
                      </a:pPr>
                      <a:r>
                        <a:rPr lang="es-ES"/>
                        <a:t>&gt; 0,85: 3 puntos</a:t>
                      </a:r>
                      <a:endParaRPr/>
                    </a:p>
                    <a:p>
                      <a:pPr indent="0" lvl="0" marL="0" rtl="0" algn="l">
                        <a:lnSpc>
                          <a:spcPct val="115000"/>
                        </a:lnSpc>
                        <a:spcBef>
                          <a:spcPts val="0"/>
                        </a:spcBef>
                        <a:spcAft>
                          <a:spcPts val="0"/>
                        </a:spcAft>
                        <a:buNone/>
                      </a:pPr>
                      <a:r>
                        <a:rPr lang="es-ES"/>
                        <a:t>&gt; 0,8: 2 puntos</a:t>
                      </a:r>
                      <a:endParaRPr/>
                    </a:p>
                    <a:p>
                      <a:pPr indent="0" lvl="0" marL="0" rtl="0" algn="l">
                        <a:lnSpc>
                          <a:spcPct val="115000"/>
                        </a:lnSpc>
                        <a:spcBef>
                          <a:spcPts val="0"/>
                        </a:spcBef>
                        <a:spcAft>
                          <a:spcPts val="0"/>
                        </a:spcAft>
                        <a:buNone/>
                      </a:pPr>
                      <a:r>
                        <a:rPr lang="es-ES"/>
                        <a:t>&gt; 0,7: 1 punto</a:t>
                      </a:r>
                      <a:endParaRPr/>
                    </a:p>
                    <a:p>
                      <a:pPr indent="0" lvl="0" marL="0" rtl="0" algn="l">
                        <a:lnSpc>
                          <a:spcPct val="115000"/>
                        </a:lnSpc>
                        <a:spcBef>
                          <a:spcPts val="0"/>
                        </a:spcBef>
                        <a:spcAft>
                          <a:spcPts val="0"/>
                        </a:spcAft>
                        <a:buNone/>
                      </a:pPr>
                      <a:r>
                        <a:rPr lang="es-ES"/>
                        <a:t>&lt; 0,7: 0 puntos</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r>
              <a:tr h="463625">
                <a:tc>
                  <a:txBody>
                    <a:bodyPr/>
                    <a:lstStyle/>
                    <a:p>
                      <a:pPr indent="0" lvl="0" marL="0" rtl="0" algn="l">
                        <a:spcBef>
                          <a:spcPts val="0"/>
                        </a:spcBef>
                        <a:spcAft>
                          <a:spcPts val="0"/>
                        </a:spcAft>
                        <a:buNone/>
                      </a:pPr>
                      <a:r>
                        <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a:t>TOTAL</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3F3F3"/>
                    </a:solidFill>
                  </a:tcPr>
                </a:tc>
                <a:tc>
                  <a:txBody>
                    <a:bodyPr/>
                    <a:lstStyle/>
                    <a:p>
                      <a:pPr indent="0" lvl="0" marL="0" rtl="0" algn="ctr">
                        <a:lnSpc>
                          <a:spcPct val="115000"/>
                        </a:lnSpc>
                        <a:spcBef>
                          <a:spcPts val="0"/>
                        </a:spcBef>
                        <a:spcAft>
                          <a:spcPts val="0"/>
                        </a:spcAft>
                        <a:buNone/>
                      </a:pPr>
                      <a:r>
                        <a:rPr lang="es-ES"/>
                        <a:t>10</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a:t>un código limpio no suma puntos</a:t>
                      </a:r>
                      <a:endParaRPr/>
                    </a:p>
                    <a:p>
                      <a:pPr indent="0" lvl="0" marL="0" rtl="0" algn="l">
                        <a:lnSpc>
                          <a:spcPct val="115000"/>
                        </a:lnSpc>
                        <a:spcBef>
                          <a:spcPts val="0"/>
                        </a:spcBef>
                        <a:spcAft>
                          <a:spcPts val="0"/>
                        </a:spcAft>
                        <a:buNone/>
                      </a:pPr>
                      <a:r>
                        <a:rPr lang="es-ES"/>
                        <a:t>pero uno sucio resta</a:t>
                      </a:r>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rgbClr val="FFFFFF"/>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uclio Digital School">
  <a:themeElements>
    <a:clrScheme name="Office">
      <a:dk1>
        <a:srgbClr val="000000"/>
      </a:dk1>
      <a:lt1>
        <a:srgbClr val="FFFFFF"/>
      </a:lt1>
      <a:dk2>
        <a:srgbClr val="EAEAEA"/>
      </a:dk2>
      <a:lt2>
        <a:srgbClr val="FCB700"/>
      </a:lt2>
      <a:accent1>
        <a:srgbClr val="141414"/>
      </a:accent1>
      <a:accent2>
        <a:srgbClr val="343434"/>
      </a:accent2>
      <a:accent3>
        <a:srgbClr val="676767"/>
      </a:accent3>
      <a:accent4>
        <a:srgbClr val="9A9A9A"/>
      </a:accent4>
      <a:accent5>
        <a:srgbClr val="FFDB7C"/>
      </a:accent5>
      <a:accent6>
        <a:srgbClr val="FFF7E2"/>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